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Economica"/>
      <p:regular r:id="rId17"/>
      <p:bold r:id="rId18"/>
      <p:italic r:id="rId19"/>
      <p:boldItalic r:id="rId20"/>
    </p:embeddedFont>
    <p:embeddedFont>
      <p:font typeface="Open Sans"/>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Economica-boldItalic.fntdata"/><Relationship Id="rId11" Type="http://schemas.openxmlformats.org/officeDocument/2006/relationships/slide" Target="slides/slide6.xml"/><Relationship Id="rId22" Type="http://schemas.openxmlformats.org/officeDocument/2006/relationships/font" Target="fonts/OpenSans-bold.fntdata"/><Relationship Id="rId10" Type="http://schemas.openxmlformats.org/officeDocument/2006/relationships/slide" Target="slides/slide5.xml"/><Relationship Id="rId21" Type="http://schemas.openxmlformats.org/officeDocument/2006/relationships/font" Target="fonts/OpenSans-regular.fntdata"/><Relationship Id="rId13" Type="http://schemas.openxmlformats.org/officeDocument/2006/relationships/slide" Target="slides/slide8.xml"/><Relationship Id="rId24" Type="http://schemas.openxmlformats.org/officeDocument/2006/relationships/font" Target="fonts/OpenSans-boldItalic.fntdata"/><Relationship Id="rId12" Type="http://schemas.openxmlformats.org/officeDocument/2006/relationships/slide" Target="slides/slide7.xml"/><Relationship Id="rId23" Type="http://schemas.openxmlformats.org/officeDocument/2006/relationships/font" Target="fonts/OpenSans-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Economica-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Economica-italic.fntdata"/><Relationship Id="rId6" Type="http://schemas.openxmlformats.org/officeDocument/2006/relationships/slide" Target="slides/slide1.xml"/><Relationship Id="rId18" Type="http://schemas.openxmlformats.org/officeDocument/2006/relationships/font" Target="fonts/Economica-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fa4889bf36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fa4889bf36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Hi, I’m Paulina, a programmer with experience across a range of projects using different process approaches.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I’ve worked on:</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An outsourced project</a:t>
            </a:r>
            <a:r>
              <a:rPr lang="en">
                <a:solidFill>
                  <a:schemeClr val="dk1"/>
                </a:solidFill>
              </a:rPr>
              <a:t> with a complex architecture and cross-team collaboration. Predictability was crucial for the customer, so we adhered to traditional Agile practices.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A large game project</a:t>
            </a:r>
            <a:r>
              <a:rPr lang="en">
                <a:solidFill>
                  <a:schemeClr val="dk1"/>
                </a:solidFill>
              </a:rPr>
              <a:t> that launched extremely successfully and then aimed to scale fast, also following classic Agile.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Small, time-boxed mobile projects</a:t>
            </a:r>
            <a:r>
              <a:rPr lang="en">
                <a:solidFill>
                  <a:schemeClr val="dk1"/>
                </a:solidFill>
              </a:rPr>
              <a:t> that needed quick prototyping and tight deadlines, with the goal of delivering on time, often without long-term perspectives.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A chaotic startup</a:t>
            </a:r>
            <a:r>
              <a:rPr lang="en">
                <a:solidFill>
                  <a:schemeClr val="dk1"/>
                </a:solidFill>
              </a:rPr>
              <a:t> where I tried to introduce Agile processes in a disorganized environment, and another project that started with Agile but abandoned it later.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Today, I’d like to share how these different management approaches—especially Agile—have impacted teams, project success, and development outcomes.</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fa4889bf36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fa4889bf36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First let’s look at common challenges teams face without structured processes.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lnSpc>
                <a:spcPct val="100000"/>
              </a:lnSpc>
              <a:spcBef>
                <a:spcPts val="0"/>
              </a:spcBef>
              <a:spcAft>
                <a:spcPts val="0"/>
              </a:spcAft>
              <a:buNone/>
            </a:pPr>
            <a:r>
              <a:rPr lang="en">
                <a:solidFill>
                  <a:schemeClr val="dk1"/>
                </a:solidFill>
              </a:rPr>
              <a:t>It often starts with </a:t>
            </a:r>
            <a:r>
              <a:rPr b="1" lang="en">
                <a:solidFill>
                  <a:schemeClr val="dk1"/>
                </a:solidFill>
              </a:rPr>
              <a:t>unclear responsibilities</a:t>
            </a:r>
            <a:r>
              <a:rPr lang="en">
                <a:solidFill>
                  <a:schemeClr val="dk1"/>
                </a:solidFill>
              </a:rPr>
              <a:t>—when roles aren’t well-defined, expectations become unspoken or misunderstood. </a:t>
            </a:r>
            <a:endParaRPr>
              <a:solidFill>
                <a:schemeClr val="dk1"/>
              </a:solidFill>
            </a:endParaRPr>
          </a:p>
          <a:p>
            <a:pPr indent="0" lvl="0" marL="0" rtl="0" algn="l">
              <a:lnSpc>
                <a:spcPct val="100000"/>
              </a:lnSpc>
              <a:spcBef>
                <a:spcPts val="0"/>
              </a:spcBef>
              <a:spcAft>
                <a:spcPts val="0"/>
              </a:spcAft>
              <a:buNone/>
            </a:pPr>
            <a:r>
              <a:rPr lang="en">
                <a:solidFill>
                  <a:schemeClr val="dk1"/>
                </a:solidFill>
              </a:rPr>
              <a:t>This leads to </a:t>
            </a:r>
            <a:r>
              <a:rPr b="1" lang="en">
                <a:solidFill>
                  <a:schemeClr val="dk1"/>
                </a:solidFill>
              </a:rPr>
              <a:t>unclear requirements</a:t>
            </a:r>
            <a:r>
              <a:rPr lang="en">
                <a:solidFill>
                  <a:schemeClr val="dk1"/>
                </a:solidFill>
              </a:rPr>
              <a:t>, which make developers inefficient. </a:t>
            </a:r>
            <a:endParaRPr>
              <a:solidFill>
                <a:schemeClr val="dk1"/>
              </a:solidFill>
            </a:endParaRPr>
          </a:p>
          <a:p>
            <a:pPr indent="0" lvl="0" marL="0" rtl="0" algn="l">
              <a:lnSpc>
                <a:spcPct val="100000"/>
              </a:lnSpc>
              <a:spcBef>
                <a:spcPts val="0"/>
              </a:spcBef>
              <a:spcAft>
                <a:spcPts val="0"/>
              </a:spcAft>
              <a:buNone/>
            </a:pPr>
            <a:r>
              <a:rPr lang="en">
                <a:solidFill>
                  <a:schemeClr val="dk1"/>
                </a:solidFill>
              </a:rPr>
              <a:t>Developers either implement features that will likely need rework or spend time chasing people for missing information. Inefficiency also extends to time spent in meetings that lack clear purpose, which can drain energy.</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Unclear requirements also lead to </a:t>
            </a:r>
            <a:r>
              <a:rPr b="1" lang="en">
                <a:solidFill>
                  <a:schemeClr val="dk1"/>
                </a:solidFill>
              </a:rPr>
              <a:t>structural mistakes</a:t>
            </a:r>
            <a:r>
              <a:rPr lang="en">
                <a:solidFill>
                  <a:schemeClr val="dk1"/>
                </a:solidFill>
              </a:rPr>
              <a:t> in the codebase, making it hard to extend the project later.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Add </a:t>
            </a:r>
            <a:r>
              <a:rPr b="1" lang="en">
                <a:solidFill>
                  <a:schemeClr val="dk1"/>
                </a:solidFill>
              </a:rPr>
              <a:t>misalignment between teams</a:t>
            </a:r>
            <a:r>
              <a:rPr lang="en">
                <a:solidFill>
                  <a:schemeClr val="dk1"/>
                </a:solidFill>
              </a:rPr>
              <a:t>, </a:t>
            </a:r>
            <a:r>
              <a:rPr b="1" lang="en">
                <a:solidFill>
                  <a:schemeClr val="dk1"/>
                </a:solidFill>
              </a:rPr>
              <a:t>lack of feedback</a:t>
            </a:r>
            <a:r>
              <a:rPr lang="en">
                <a:solidFill>
                  <a:schemeClr val="dk1"/>
                </a:solidFill>
              </a:rPr>
              <a:t>, and ultimately, you end up with </a:t>
            </a:r>
            <a:r>
              <a:rPr b="1" lang="en">
                <a:solidFill>
                  <a:schemeClr val="dk1"/>
                </a:solidFill>
              </a:rPr>
              <a:t>burnout</a:t>
            </a:r>
            <a:r>
              <a:rPr lang="en">
                <a:solidFill>
                  <a:schemeClr val="dk1"/>
                </a:solidFill>
              </a:rPr>
              <a:t> and high turnover.</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fa4889bf36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2fa4889bf36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Let’s briefly look at approaches that might help us structure the processes.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The traditional for games approach is Waterfall, as before Steam games where limited by disks distribution, so when we wanted to make a game we had to think hard what we want to do, then focus on design and prototyping, then for development fase team could expand tremendously, then when </a:t>
            </a:r>
            <a:r>
              <a:rPr lang="en">
                <a:solidFill>
                  <a:schemeClr val="dk1"/>
                </a:solidFill>
              </a:rPr>
              <a:t>everything</a:t>
            </a:r>
            <a:r>
              <a:rPr lang="en">
                <a:solidFill>
                  <a:schemeClr val="dk1"/>
                </a:solidFill>
              </a:rPr>
              <a:t> was ready, we were </a:t>
            </a:r>
            <a:r>
              <a:rPr lang="en">
                <a:solidFill>
                  <a:schemeClr val="dk1"/>
                </a:solidFill>
              </a:rPr>
              <a:t>testing</a:t>
            </a:r>
            <a:r>
              <a:rPr lang="en">
                <a:solidFill>
                  <a:schemeClr val="dk1"/>
                </a:solidFill>
              </a:rPr>
              <a:t> and finally deploy. In this environment we didn’t have lots of opportunities to react to changes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Agile embraces that change, allowing you to adjust as new information emerges. For example, as new game mechanics are tested and reviewed by QA or the community, Agile lets you modify your approach without derailing the entire project.</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The </a:t>
            </a:r>
            <a:r>
              <a:rPr b="1" lang="en">
                <a:solidFill>
                  <a:schemeClr val="dk1"/>
                </a:solidFill>
              </a:rPr>
              <a:t>Stacey Matrix</a:t>
            </a:r>
            <a:r>
              <a:rPr lang="en">
                <a:solidFill>
                  <a:schemeClr val="dk1"/>
                </a:solidFill>
              </a:rPr>
              <a:t> helps us understand how different approaches like Waterfall and Agile fit different types of projects based on how clear the requirements and technical solutions are.</a:t>
            </a:r>
            <a:endParaRPr>
              <a:solidFill>
                <a:schemeClr val="dk1"/>
              </a:solidFill>
            </a:endParaRPr>
          </a:p>
          <a:p>
            <a:pPr indent="0" lvl="0" marL="0" rtl="0" algn="l">
              <a:lnSpc>
                <a:spcPct val="115000"/>
              </a:lnSpc>
              <a:spcBef>
                <a:spcPts val="1200"/>
              </a:spcBef>
              <a:spcAft>
                <a:spcPts val="0"/>
              </a:spcAft>
              <a:buNone/>
            </a:pPr>
            <a:r>
              <a:rPr lang="en">
                <a:solidFill>
                  <a:schemeClr val="dk1"/>
                </a:solidFill>
              </a:rPr>
              <a:t>Most of early </a:t>
            </a:r>
            <a:r>
              <a:rPr b="1" lang="en">
                <a:solidFill>
                  <a:schemeClr val="dk1"/>
                </a:solidFill>
              </a:rPr>
              <a:t>R&amp;D</a:t>
            </a:r>
            <a:r>
              <a:rPr lang="en">
                <a:solidFill>
                  <a:schemeClr val="dk1"/>
                </a:solidFill>
              </a:rPr>
              <a:t> stages in game development appear in </a:t>
            </a:r>
            <a:r>
              <a:rPr b="1" lang="en">
                <a:solidFill>
                  <a:schemeClr val="dk1"/>
                </a:solidFill>
              </a:rPr>
              <a:t>Chaotic </a:t>
            </a:r>
            <a:r>
              <a:rPr lang="en">
                <a:solidFill>
                  <a:schemeClr val="dk1"/>
                </a:solidFill>
              </a:rPr>
              <a:t>section because both the goals and the solutions are unclear, so in order to approach it we want to decrease </a:t>
            </a:r>
            <a:r>
              <a:rPr lang="en">
                <a:solidFill>
                  <a:schemeClr val="dk1"/>
                </a:solidFill>
              </a:rPr>
              <a:t>uncertainty, that brings us to </a:t>
            </a:r>
            <a:r>
              <a:rPr b="1" lang="en">
                <a:solidFill>
                  <a:schemeClr val="dk1"/>
                </a:solidFill>
              </a:rPr>
              <a:t>Complex</a:t>
            </a:r>
            <a:r>
              <a:rPr lang="en">
                <a:solidFill>
                  <a:schemeClr val="dk1"/>
                </a:solidFill>
              </a:rPr>
              <a:t> section, where iteration approach can help us to eat elephant by small pieces, which is </a:t>
            </a:r>
            <a:r>
              <a:rPr b="1" lang="en">
                <a:solidFill>
                  <a:schemeClr val="dk1"/>
                </a:solidFill>
              </a:rPr>
              <a:t>Simple </a:t>
            </a:r>
            <a:r>
              <a:rPr lang="en">
                <a:solidFill>
                  <a:schemeClr val="dk1"/>
                </a:solidFill>
              </a:rPr>
              <a:t>enough to approach it with directly and receive a feedback in a short period of time.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fa4889bf36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2fa4889bf36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Agile is focused to have a working product at the end of every iteration. It </a:t>
            </a:r>
            <a:r>
              <a:rPr lang="en">
                <a:solidFill>
                  <a:schemeClr val="dk1"/>
                </a:solidFill>
              </a:rPr>
              <a:t>also </a:t>
            </a:r>
            <a:r>
              <a:rPr lang="en">
                <a:solidFill>
                  <a:schemeClr val="dk1"/>
                </a:solidFill>
              </a:rPr>
              <a:t>provides</a:t>
            </a:r>
            <a:r>
              <a:rPr lang="en">
                <a:solidFill>
                  <a:schemeClr val="dk1"/>
                </a:solidFill>
              </a:rPr>
              <a:t> iteration framework on all levels of production, from high-level strategy to changes submit, which suggests adjusting to feedback and requirements changes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Let's explore a few key processes and routines that directly address common developer pain points: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Backlog Grooming</a:t>
            </a:r>
            <a:r>
              <a:rPr lang="en">
                <a:solidFill>
                  <a:schemeClr val="dk1"/>
                </a:solidFill>
              </a:rPr>
              <a:t>: Throughout the project, the product backlog (a prioritized list of tasks) is reviewed and refined. For developers, this ensures that the most important tasks are always at the top of the list and that each task is properly detailed before it’s selected for a sprint. This eliminates the stress of receiving vague tasks at the last minute and enables better focus on what really matters.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Definition of Done</a:t>
            </a:r>
            <a:r>
              <a:rPr lang="en">
                <a:solidFill>
                  <a:schemeClr val="dk1"/>
                </a:solidFill>
              </a:rPr>
              <a:t>: Agile teams often establish a "definition of done" to clarify when a feature is complete. This may include code reviews, passing tests, and approval from relevant stakeholders. Having a clear standard reduces the uncertainty of what’s expected from a developer when finishing a task, so there’s no second-guessing whether a feature is truly finished.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Sprint Planning</a:t>
            </a:r>
            <a:r>
              <a:rPr lang="en">
                <a:solidFill>
                  <a:schemeClr val="dk1"/>
                </a:solidFill>
              </a:rPr>
              <a:t>: During sprint planning, the team sets clear goals and expectations, which ensures that everyone knows exactly what’s required. This helps developers avoid the frustration of unclear or constantly changing requirements.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Daily Stand-ups</a:t>
            </a:r>
            <a:r>
              <a:rPr lang="en">
                <a:solidFill>
                  <a:schemeClr val="dk1"/>
                </a:solidFill>
              </a:rPr>
              <a:t>: Teams meet briefly each day to discuss progress and any challenges they face. For developers, this keeps communication flowing and helps identify blockers early, ensuring you don’t waste time on rework or misaligned tasks.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Continuous Integration</a:t>
            </a:r>
            <a:r>
              <a:rPr lang="en">
                <a:solidFill>
                  <a:schemeClr val="dk1"/>
                </a:solidFill>
              </a:rPr>
              <a:t>: Agile promotes frequent integration of code changes into a shared repository, often paired with automated testing. For developers, this ensures that bugs and issues are caught early, preventing the dreaded situation where months of development need to be debugged all at once. This is especially critical in game development, where features and mechanics interact in complex ways.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Retrospectives</a:t>
            </a:r>
            <a:r>
              <a:rPr lang="en">
                <a:solidFill>
                  <a:schemeClr val="dk1"/>
                </a:solidFill>
              </a:rPr>
              <a:t>: After each sprint, the team reflects on what worked well and what can be improved. This continuous feedback loop helps both developers and management refine how they work together, making improvements each sprint.</a:t>
            </a:r>
            <a:endParaRPr>
              <a:solidFill>
                <a:schemeClr val="dk1"/>
              </a:solidFill>
            </a:endParaRPr>
          </a:p>
          <a:p>
            <a:pPr indent="0" lvl="0" marL="0" rtl="0" algn="l">
              <a:lnSpc>
                <a:spcPct val="115000"/>
              </a:lnSpc>
              <a:spcBef>
                <a:spcPts val="1200"/>
              </a:spcBef>
              <a:spcAft>
                <a:spcPts val="0"/>
              </a:spcAft>
              <a:buNone/>
            </a:pPr>
            <a:r>
              <a:rPr lang="en">
                <a:solidFill>
                  <a:schemeClr val="dk1"/>
                </a:solidFill>
              </a:rPr>
              <a:t>Agile, with these practices, provides a structured yet flexible approach to managing complexity, offering a way to adapt to changing conditions and unclear requirements. It’s especially valuable in development environments where uncertainty is high.</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b="1">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fa4889bf36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fa4889bf36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joined this project right before launch which appeared more successful than expected, so they decided they need to grow and fast. They had a team of 40 people organized into </a:t>
            </a:r>
            <a:r>
              <a:rPr lang="en"/>
              <a:t>discipline teams around a Project Manager.</a:t>
            </a:r>
            <a:endParaRPr/>
          </a:p>
          <a:p>
            <a:pPr indent="0" lvl="0" marL="0" rtl="0" algn="l">
              <a:lnSpc>
                <a:spcPct val="115000"/>
              </a:lnSpc>
              <a:spcBef>
                <a:spcPts val="1200"/>
              </a:spcBef>
              <a:spcAft>
                <a:spcPts val="0"/>
              </a:spcAft>
              <a:buNone/>
            </a:pPr>
            <a:r>
              <a:rPr lang="en"/>
              <a:t>To grow they reorganized teams into Cross-Functional Feature and Support &amp; Content Teams, Feature teams were responsible for delivery and gluing everything together, when Support and Content teams were providing all needed content. </a:t>
            </a:r>
            <a:endParaRPr/>
          </a:p>
          <a:p>
            <a:pPr indent="0" lvl="0" marL="0" rtl="0" algn="l">
              <a:lnSpc>
                <a:spcPct val="115000"/>
              </a:lnSpc>
              <a:spcBef>
                <a:spcPts val="1200"/>
              </a:spcBef>
              <a:spcAft>
                <a:spcPts val="0"/>
              </a:spcAft>
              <a:buClr>
                <a:schemeClr val="dk1"/>
              </a:buClr>
              <a:buSzPts val="1100"/>
              <a:buFont typeface="Arial"/>
              <a:buNone/>
            </a:pPr>
            <a:r>
              <a:rPr lang="en"/>
              <a:t>Around feature teams were organized management, like Architect and tech leads were overseeing technical implementation, QA lead - QA processes, Design lead - PO activity and requirement definition, PM - overall management. </a:t>
            </a:r>
            <a:endParaRPr/>
          </a:p>
          <a:p>
            <a:pPr indent="0" lvl="0" marL="0" rtl="0" algn="l">
              <a:lnSpc>
                <a:spcPct val="115000"/>
              </a:lnSpc>
              <a:spcBef>
                <a:spcPts val="1200"/>
              </a:spcBef>
              <a:spcAft>
                <a:spcPts val="0"/>
              </a:spcAft>
              <a:buClr>
                <a:schemeClr val="dk1"/>
              </a:buClr>
              <a:buSzPts val="1100"/>
              <a:buFont typeface="Arial"/>
              <a:buNone/>
            </a:pPr>
            <a:r>
              <a:rPr lang="en"/>
              <a:t>I ended up in one of feature teams among other 2 Unity devs, 1 back-end dev, 2 QA, 1 game designer that played PO role and Team lead aka scrum master.</a:t>
            </a:r>
            <a:endParaRPr/>
          </a:p>
          <a:p>
            <a:pPr indent="0" lvl="0" marL="0" rtl="0" algn="l">
              <a:spcBef>
                <a:spcPts val="1200"/>
              </a:spcBef>
              <a:spcAft>
                <a:spcPts val="0"/>
              </a:spcAft>
              <a:buNone/>
            </a:pPr>
            <a:r>
              <a:rPr lang="en"/>
              <a:t>In 3 month they added 2 more feature teams and expanded support teams, so project grew up to 120 people.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fa4889bf36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2fa4889bf36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a feature team we were a last point before deployment where we put </a:t>
            </a:r>
            <a:r>
              <a:rPr lang="en"/>
              <a:t>design, art, sound, animations and tech art. Agile practices allowed us to make sure we have everything we need from other teams before we start the sprint, as they did it in previous sprint.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Another team that we had to work sometimes was a team outside the project that worked on centralized configurations aggregator. Sometimes we had to have there new entities for our feature. Agile requirements gathering practices allowed us to figure out this need early, specify the entities structure and get this API done before we start the sprint for implementing the feature.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fa4889bf36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2fa4889bf36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launch success also required tech improvements to make sure the project can expand. The scrum structure allowed to book capacity for tech debt in every sprint, tech team was able to focus on automation tools. Reorganizing managing responsibilities and adding Architect role </a:t>
            </a:r>
            <a:r>
              <a:rPr lang="en"/>
              <a:t>allowed</a:t>
            </a:r>
            <a:r>
              <a:rPr lang="en"/>
              <a:t> technical oversight become more structured and strategic. To accomplish it we had cross-team code review, automation tools, tech syncs where we got architectural directions, were sharing best practices and step up with ideas. </a:t>
            </a:r>
            <a:endParaRPr/>
          </a:p>
          <a:p>
            <a:pPr indent="0" lvl="0" marL="0" rtl="0" algn="l">
              <a:spcBef>
                <a:spcPts val="0"/>
              </a:spcBef>
              <a:spcAft>
                <a:spcPts val="0"/>
              </a:spcAft>
              <a:buNone/>
            </a:pPr>
            <a:r>
              <a:rPr lang="en"/>
              <a:t>There were </a:t>
            </a:r>
            <a:r>
              <a:rPr lang="en"/>
              <a:t>challenges</a:t>
            </a:r>
            <a:r>
              <a:rPr lang="en"/>
              <a:t> as well:</a:t>
            </a:r>
            <a:br>
              <a:rPr lang="en"/>
            </a:br>
            <a:r>
              <a:rPr lang="en"/>
              <a:t>In such a big project and giant code base everything changed super fast, so even familiar part of code could get changed </a:t>
            </a:r>
            <a:r>
              <a:rPr lang="en"/>
              <a:t>tremendously</a:t>
            </a:r>
            <a:r>
              <a:rPr lang="en"/>
              <a:t> by the moment you get another task</a:t>
            </a:r>
            <a:endParaRPr/>
          </a:p>
          <a:p>
            <a:pPr indent="0" lvl="0" marL="0" rtl="0" algn="l">
              <a:spcBef>
                <a:spcPts val="0"/>
              </a:spcBef>
              <a:spcAft>
                <a:spcPts val="0"/>
              </a:spcAft>
              <a:buNone/>
            </a:pPr>
            <a:r>
              <a:rPr lang="en"/>
              <a:t>We had complicated branching strategy </a:t>
            </a:r>
            <a:r>
              <a:rPr lang="en"/>
              <a:t>with</a:t>
            </a:r>
            <a:r>
              <a:rPr lang="en"/>
              <a:t> rebases that required attention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But as result we made significant architectural changes in as small period as 6 months among implementing new </a:t>
            </a:r>
            <a:r>
              <a:rPr lang="en"/>
              <a:t>features</a:t>
            </a:r>
            <a:r>
              <a:rPr lang="en"/>
              <a:t>:</a:t>
            </a:r>
            <a:br>
              <a:rPr lang="en"/>
            </a:br>
            <a:r>
              <a:rPr lang="en"/>
              <a:t>MVCS -&gt; Controllers tree</a:t>
            </a:r>
            <a:endParaRPr/>
          </a:p>
          <a:p>
            <a:pPr indent="0" lvl="0" marL="0" rtl="0" algn="l">
              <a:spcBef>
                <a:spcPts val="0"/>
              </a:spcBef>
              <a:spcAft>
                <a:spcPts val="0"/>
              </a:spcAft>
              <a:buNone/>
            </a:pPr>
            <a:r>
              <a:rPr lang="en"/>
              <a:t>Monolith -&gt; multiservices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fa4889bf36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fa4889bf36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 was a brand new project and tiny-</a:t>
            </a:r>
            <a:r>
              <a:rPr lang="en"/>
              <a:t>tiny</a:t>
            </a:r>
            <a:r>
              <a:rPr lang="en"/>
              <a:t> small team. </a:t>
            </a:r>
            <a:endParaRPr/>
          </a:p>
          <a:p>
            <a:pPr indent="0" lvl="0" marL="0" rtl="0" algn="l">
              <a:spcBef>
                <a:spcPts val="0"/>
              </a:spcBef>
              <a:spcAft>
                <a:spcPts val="0"/>
              </a:spcAft>
              <a:buNone/>
            </a:pPr>
            <a:r>
              <a:rPr lang="en"/>
              <a:t>We had to </a:t>
            </a:r>
            <a:r>
              <a:rPr lang="en"/>
              <a:t>analyze acquired code base, optimize it, leave only game mechanic and fully change narrative. </a:t>
            </a:r>
            <a:endParaRPr/>
          </a:p>
          <a:p>
            <a:pPr indent="0" lvl="0" marL="0" rtl="0" algn="l">
              <a:spcBef>
                <a:spcPts val="0"/>
              </a:spcBef>
              <a:spcAft>
                <a:spcPts val="0"/>
              </a:spcAft>
              <a:buNone/>
            </a:pPr>
            <a:r>
              <a:rPr lang="en"/>
              <a:t>In a small team it was easy to communicate any needs and react to management requests.</a:t>
            </a:r>
            <a:endParaRPr/>
          </a:p>
          <a:p>
            <a:pPr indent="0" lvl="0" marL="0" rtl="0" algn="l">
              <a:spcBef>
                <a:spcPts val="0"/>
              </a:spcBef>
              <a:spcAft>
                <a:spcPts val="0"/>
              </a:spcAft>
              <a:buNone/>
            </a:pPr>
            <a:r>
              <a:rPr lang="en"/>
              <a:t>We were able to make the prototype in 2 months and meet all the expectations, so management decided we need to grow. </a:t>
            </a:r>
            <a:endParaRPr/>
          </a:p>
          <a:p>
            <a:pPr indent="0" lvl="0" marL="0" rtl="0" algn="l">
              <a:spcBef>
                <a:spcPts val="0"/>
              </a:spcBef>
              <a:spcAft>
                <a:spcPts val="0"/>
              </a:spcAft>
              <a:buNone/>
            </a:pPr>
            <a:r>
              <a:rPr lang="en"/>
              <a:t>Soon we’ve found out project had highly coupled structure that was making collaborative work complicated. </a:t>
            </a:r>
            <a:endParaRPr/>
          </a:p>
          <a:p>
            <a:pPr indent="0" lvl="0" marL="0" rtl="0" algn="l">
              <a:spcBef>
                <a:spcPts val="0"/>
              </a:spcBef>
              <a:spcAft>
                <a:spcPts val="0"/>
              </a:spcAft>
              <a:buNone/>
            </a:pPr>
            <a:r>
              <a:rPr lang="en"/>
              <a:t>We reorganized fully the project structure and started to implement first levels, but with team growing it became hard to save transparency, management oversight became nervous and destructive, so we decided we need processes. </a:t>
            </a:r>
            <a:endParaRPr/>
          </a:p>
          <a:p>
            <a:pPr indent="0" lvl="0" marL="0" rtl="0" algn="l">
              <a:spcBef>
                <a:spcPts val="0"/>
              </a:spcBef>
              <a:spcAft>
                <a:spcPts val="0"/>
              </a:spcAft>
              <a:buNone/>
            </a:pPr>
            <a:r>
              <a:rPr lang="en"/>
              <a:t>We started from builds schedule, and specifying what we want to see in those builds, we set up fully automated CI/CD and branching strategy, code reviews took authoritative character as team wasn’t very familiar with code review process.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Management wanted from us fast iterations and builds every week, so we had 1 week sprints which didn’t give us lots of time for planning, but mostly requirements were straightforward.</a:t>
            </a:r>
            <a:endParaRPr/>
          </a:p>
          <a:p>
            <a:pPr indent="0" lvl="0" marL="0" rtl="0" algn="l">
              <a:spcBef>
                <a:spcPts val="0"/>
              </a:spcBef>
              <a:spcAft>
                <a:spcPts val="0"/>
              </a:spcAft>
              <a:buNone/>
            </a:pPr>
            <a:r>
              <a:rPr lang="en"/>
              <a:t>We were able to bring this rhythm to other teams, structure QA approaches, centralize decision making and give developers peace of work without interruptions.</a:t>
            </a:r>
            <a:endParaRPr/>
          </a:p>
          <a:p>
            <a:pPr indent="0" lvl="0" marL="0" rtl="0" algn="l">
              <a:spcBef>
                <a:spcPts val="0"/>
              </a:spcBef>
              <a:spcAft>
                <a:spcPts val="0"/>
              </a:spcAft>
              <a:buNone/>
            </a:pPr>
            <a:r>
              <a:rPr lang="en"/>
              <a:t>We started to face out with issues when we had to integrate new features from original game - the code difference was so huge that it almost didn’t make sense to try to merge it, so we had to develop them from scratch, which didn’t correspond to management vision.</a:t>
            </a:r>
            <a:endParaRPr/>
          </a:p>
          <a:p>
            <a:pPr indent="0" lvl="0" marL="0" rtl="0" algn="l">
              <a:spcBef>
                <a:spcPts val="0"/>
              </a:spcBef>
              <a:spcAft>
                <a:spcPts val="0"/>
              </a:spcAft>
              <a:buNone/>
            </a:pPr>
            <a:r>
              <a:rPr lang="en"/>
              <a:t>I don’t know if it was the reason, but soon the project was cut off, team got laid off and soon the whole company got shut down.</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0147adfb4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0147adfb4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381000" rtl="0" algn="l">
              <a:lnSpc>
                <a:spcPct val="115000"/>
              </a:lnSpc>
              <a:spcBef>
                <a:spcPts val="0"/>
              </a:spcBef>
              <a:spcAft>
                <a:spcPts val="0"/>
              </a:spcAft>
              <a:buNone/>
            </a:pPr>
            <a:r>
              <a:rPr lang="en"/>
              <a:t>This case combines insights from multiple projects where some</a:t>
            </a:r>
            <a:r>
              <a:rPr b="1" lang="en"/>
              <a:t> Agile routines </a:t>
            </a:r>
            <a:r>
              <a:rPr lang="en"/>
              <a:t>were in place but lacked </a:t>
            </a:r>
            <a:r>
              <a:rPr b="1" lang="en"/>
              <a:t>effective structure</a:t>
            </a:r>
            <a:r>
              <a:rPr lang="en"/>
              <a:t>. </a:t>
            </a:r>
            <a:endParaRPr/>
          </a:p>
          <a:p>
            <a:pPr indent="0" lvl="0" marL="0" marR="381000" rtl="0" algn="l">
              <a:lnSpc>
                <a:spcPct val="115000"/>
              </a:lnSpc>
              <a:spcBef>
                <a:spcPts val="0"/>
              </a:spcBef>
              <a:spcAft>
                <a:spcPts val="0"/>
              </a:spcAft>
              <a:buNone/>
            </a:pPr>
            <a:r>
              <a:rPr lang="en"/>
              <a:t>In these environments, teams often </a:t>
            </a:r>
            <a:r>
              <a:rPr b="1" lang="en"/>
              <a:t>relied heavily on personal connections and individual passion</a:t>
            </a:r>
            <a:r>
              <a:rPr lang="en"/>
              <a:t>, which aren’t always reliable or aligned with company goals. </a:t>
            </a:r>
            <a:endParaRPr/>
          </a:p>
          <a:p>
            <a:pPr indent="0" lvl="0" marL="0" marR="381000" rtl="0" algn="l">
              <a:lnSpc>
                <a:spcPct val="115000"/>
              </a:lnSpc>
              <a:spcBef>
                <a:spcPts val="0"/>
              </a:spcBef>
              <a:spcAft>
                <a:spcPts val="0"/>
              </a:spcAft>
              <a:buNone/>
            </a:pPr>
            <a:r>
              <a:rPr lang="en"/>
              <a:t>Another common challenge was the</a:t>
            </a:r>
            <a:r>
              <a:rPr b="1" lang="en"/>
              <a:t> chaotic and impulsive response to changes</a:t>
            </a:r>
            <a:r>
              <a:rPr lang="en"/>
              <a:t>, with decisions often made on the fly.</a:t>
            </a:r>
            <a:endParaRPr/>
          </a:p>
          <a:p>
            <a:pPr indent="0" lvl="0" marL="0" marR="381000" rtl="0" algn="l">
              <a:lnSpc>
                <a:spcPct val="115000"/>
              </a:lnSpc>
              <a:spcBef>
                <a:spcPts val="0"/>
              </a:spcBef>
              <a:spcAft>
                <a:spcPts val="0"/>
              </a:spcAft>
              <a:buClr>
                <a:schemeClr val="dk1"/>
              </a:buClr>
              <a:buSzPts val="1100"/>
              <a:buFont typeface="Arial"/>
              <a:buNone/>
            </a:pPr>
            <a:r>
              <a:t/>
            </a:r>
            <a:endParaRPr/>
          </a:p>
          <a:p>
            <a:pPr indent="0" lvl="0" marL="0" marR="381000" rtl="0" algn="l">
              <a:lnSpc>
                <a:spcPct val="115000"/>
              </a:lnSpc>
              <a:spcBef>
                <a:spcPts val="0"/>
              </a:spcBef>
              <a:spcAft>
                <a:spcPts val="0"/>
              </a:spcAft>
              <a:buNone/>
            </a:pPr>
            <a:r>
              <a:rPr lang="en"/>
              <a:t>This setup can work for small projects or teams of around five-ten people, where communication is naturally straightforward. </a:t>
            </a:r>
            <a:endParaRPr/>
          </a:p>
          <a:p>
            <a:pPr indent="0" lvl="0" marL="0" marR="381000" rtl="0" algn="l">
              <a:lnSpc>
                <a:spcPct val="115000"/>
              </a:lnSpc>
              <a:spcBef>
                <a:spcPts val="0"/>
              </a:spcBef>
              <a:spcAft>
                <a:spcPts val="0"/>
              </a:spcAft>
              <a:buClr>
                <a:schemeClr val="dk1"/>
              </a:buClr>
              <a:buSzPts val="1100"/>
              <a:buFont typeface="Arial"/>
              <a:buNone/>
            </a:pPr>
            <a:r>
              <a:rPr lang="en"/>
              <a:t>However, even in larger teams, not having a full Agile structure didn’t mean products couldn’t be delivered—though it’s hard to know if more structure would have led to greater success.</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fa9af3db84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fa9af3db84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Agile brings predictability, clarity, and a balance of feature development with technical improvements. It also offers opportunities for growth, learning, and purposeful meetings that, when used responsibly, fill communication gaps and allow team members to feel their contributions make an impact. All together</a:t>
            </a:r>
            <a:r>
              <a:rPr lang="en">
                <a:solidFill>
                  <a:schemeClr val="dk1"/>
                </a:solidFill>
              </a:rPr>
              <a:t> reduces stress for developers.</a:t>
            </a:r>
            <a:r>
              <a:rPr lang="en"/>
              <a:t> This helps Agile foster collaboration and provides an adaptable framework for dynamic projects and fast-paced environments. However, Agile works best when there’s trust and commitment from the entire team.</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
          <p:cNvSpPr txBox="1"/>
          <p:nvPr>
            <p:ph type="ctrTitle"/>
          </p:nvPr>
        </p:nvSpPr>
        <p:spPr>
          <a:xfrm>
            <a:off x="3044700" y="1444255"/>
            <a:ext cx="3054600" cy="1537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3" name="Google Shape;13;p2"/>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7" name="Google Shape;17;p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8" name="Google Shape;18;p3"/>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7" name="Google Shape;27;p5"/>
          <p:cNvSpPr txBox="1"/>
          <p:nvPr>
            <p:ph idx="1" type="body"/>
          </p:nvPr>
        </p:nvSpPr>
        <p:spPr>
          <a:xfrm>
            <a:off x="3117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2" type="body"/>
          </p:nvPr>
        </p:nvSpPr>
        <p:spPr>
          <a:xfrm>
            <a:off x="48324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 name="Google Shape;35;p7"/>
          <p:cNvSpPr txBox="1"/>
          <p:nvPr>
            <p:ph idx="1" type="body"/>
          </p:nvPr>
        </p:nvSpPr>
        <p:spPr>
          <a:xfrm>
            <a:off x="311700" y="1399400"/>
            <a:ext cx="2808000" cy="27849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8"/>
          <p:cNvSpPr txBox="1"/>
          <p:nvPr>
            <p:ph type="title"/>
          </p:nvPr>
        </p:nvSpPr>
        <p:spPr>
          <a:xfrm>
            <a:off x="490250" y="450150"/>
            <a:ext cx="5878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9"/>
          <p:cNvSpPr txBox="1"/>
          <p:nvPr>
            <p:ph type="title"/>
          </p:nvPr>
        </p:nvSpPr>
        <p:spPr>
          <a:xfrm>
            <a:off x="265500" y="929275"/>
            <a:ext cx="4045200" cy="1786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45" name="Google Shape;45;p9"/>
          <p:cNvSpPr txBox="1"/>
          <p:nvPr>
            <p:ph idx="1" type="subTitle"/>
          </p:nvPr>
        </p:nvSpPr>
        <p:spPr>
          <a:xfrm>
            <a:off x="265500" y="2769001"/>
            <a:ext cx="4045200" cy="1574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9500" y="42189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1"/>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p:nvPr>
            <p:ph idx="1" type="body"/>
          </p:nvPr>
        </p:nvSpPr>
        <p:spPr>
          <a:xfrm>
            <a:off x="311700" y="316200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3044700" y="1444255"/>
            <a:ext cx="3054600" cy="15372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Experiencing Agile as a Developer</a:t>
            </a:r>
            <a:endParaRPr/>
          </a:p>
        </p:txBody>
      </p:sp>
      <p:sp>
        <p:nvSpPr>
          <p:cNvPr id="63" name="Google Shape;63;p13"/>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lnSpcReduction="20000"/>
          </a:bodyPr>
          <a:lstStyle/>
          <a:p>
            <a:pPr indent="0" lvl="0" marL="0" rtl="0" algn="ctr">
              <a:spcBef>
                <a:spcPts val="0"/>
              </a:spcBef>
              <a:spcAft>
                <a:spcPts val="0"/>
              </a:spcAft>
              <a:buNone/>
            </a:pPr>
            <a:r>
              <a:rPr lang="en"/>
              <a:t>How Agile Transforms Development from Chaos to Clarity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Introduction</a:t>
            </a:r>
            <a:endParaRPr/>
          </a:p>
        </p:txBody>
      </p:sp>
      <p:sp>
        <p:nvSpPr>
          <p:cNvPr id="69" name="Google Shape;69;p1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Background:</a:t>
            </a:r>
            <a:endParaRPr/>
          </a:p>
          <a:p>
            <a:pPr indent="-342900" lvl="0" marL="457200" rtl="0" algn="l">
              <a:spcBef>
                <a:spcPts val="1200"/>
              </a:spcBef>
              <a:spcAft>
                <a:spcPts val="0"/>
              </a:spcAft>
              <a:buSzPts val="1800"/>
              <a:buChar char="●"/>
            </a:pPr>
            <a:r>
              <a:rPr lang="en"/>
              <a:t>Computer Science teacher and mentor</a:t>
            </a:r>
            <a:endParaRPr/>
          </a:p>
          <a:p>
            <a:pPr indent="-342900" lvl="0" marL="457200" rtl="0" algn="l">
              <a:spcBef>
                <a:spcPts val="0"/>
              </a:spcBef>
              <a:spcAft>
                <a:spcPts val="0"/>
              </a:spcAft>
              <a:buSzPts val="1800"/>
              <a:buChar char="●"/>
            </a:pPr>
            <a:r>
              <a:rPr lang="en"/>
              <a:t>Web-apps back-end developer (.NET, SQL)</a:t>
            </a:r>
            <a:endParaRPr/>
          </a:p>
          <a:p>
            <a:pPr indent="-342900" lvl="0" marL="457200" rtl="0" algn="l">
              <a:spcBef>
                <a:spcPts val="0"/>
              </a:spcBef>
              <a:spcAft>
                <a:spcPts val="0"/>
              </a:spcAft>
              <a:buSzPts val="1800"/>
              <a:buChar char="●"/>
            </a:pPr>
            <a:r>
              <a:rPr lang="en"/>
              <a:t>Mobile games </a:t>
            </a:r>
            <a:r>
              <a:rPr lang="en"/>
              <a:t>developer</a:t>
            </a:r>
            <a:r>
              <a:rPr lang="en"/>
              <a:t> (Unity, C#) in key developer and lead roles</a:t>
            </a:r>
            <a:endParaRPr/>
          </a:p>
          <a:p>
            <a:pPr indent="-342900" lvl="0" marL="457200" rtl="0" algn="l">
              <a:spcBef>
                <a:spcPts val="0"/>
              </a:spcBef>
              <a:spcAft>
                <a:spcPts val="0"/>
              </a:spcAft>
              <a:buSzPts val="1800"/>
              <a:buChar char="●"/>
            </a:pPr>
            <a:r>
              <a:rPr lang="en"/>
              <a:t>Generalist programmer (Unreal, C++)</a:t>
            </a:r>
            <a:endParaRPr/>
          </a:p>
          <a:p>
            <a:pPr indent="0" lvl="0" marL="91440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Common </a:t>
            </a:r>
            <a:r>
              <a:rPr lang="en"/>
              <a:t>challenges</a:t>
            </a:r>
            <a:endParaRPr/>
          </a:p>
        </p:txBody>
      </p:sp>
      <p:pic>
        <p:nvPicPr>
          <p:cNvPr id="75" name="Google Shape;75;p15"/>
          <p:cNvPicPr preferRelativeResize="0"/>
          <p:nvPr/>
        </p:nvPicPr>
        <p:blipFill>
          <a:blip r:embed="rId3">
            <a:alphaModFix/>
          </a:blip>
          <a:stretch>
            <a:fillRect/>
          </a:stretch>
        </p:blipFill>
        <p:spPr>
          <a:xfrm>
            <a:off x="2217263" y="1281700"/>
            <a:ext cx="4709466" cy="36914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Management Approaches</a:t>
            </a:r>
            <a:endParaRPr/>
          </a:p>
        </p:txBody>
      </p:sp>
      <p:pic>
        <p:nvPicPr>
          <p:cNvPr id="81" name="Google Shape;81;p16"/>
          <p:cNvPicPr preferRelativeResize="0"/>
          <p:nvPr/>
        </p:nvPicPr>
        <p:blipFill rotWithShape="1">
          <a:blip r:embed="rId3">
            <a:alphaModFix/>
          </a:blip>
          <a:srcRect b="9774" l="0" r="0" t="17773"/>
          <a:stretch/>
        </p:blipFill>
        <p:spPr>
          <a:xfrm>
            <a:off x="311700" y="1894350"/>
            <a:ext cx="5219750" cy="1890925"/>
          </a:xfrm>
          <a:prstGeom prst="rect">
            <a:avLst/>
          </a:prstGeom>
          <a:noFill/>
          <a:ln>
            <a:noFill/>
          </a:ln>
        </p:spPr>
      </p:pic>
      <p:pic>
        <p:nvPicPr>
          <p:cNvPr id="82" name="Google Shape;82;p16"/>
          <p:cNvPicPr preferRelativeResize="0"/>
          <p:nvPr/>
        </p:nvPicPr>
        <p:blipFill>
          <a:blip r:embed="rId4">
            <a:alphaModFix/>
          </a:blip>
          <a:stretch>
            <a:fillRect/>
          </a:stretch>
        </p:blipFill>
        <p:spPr>
          <a:xfrm>
            <a:off x="5531450" y="1611075"/>
            <a:ext cx="3071858" cy="24574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Essential Agile Practices</a:t>
            </a:r>
            <a:endParaRPr/>
          </a:p>
        </p:txBody>
      </p:sp>
      <p:sp>
        <p:nvSpPr>
          <p:cNvPr id="88" name="Google Shape;88;p17"/>
          <p:cNvSpPr txBox="1"/>
          <p:nvPr>
            <p:ph idx="1" type="body"/>
          </p:nvPr>
        </p:nvSpPr>
        <p:spPr>
          <a:xfrm>
            <a:off x="4832400" y="1147225"/>
            <a:ext cx="3999900" cy="33540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a:t>Definition of Done</a:t>
            </a:r>
            <a:endParaRPr/>
          </a:p>
          <a:p>
            <a:pPr indent="-317500" lvl="0" marL="457200" rtl="0" algn="l">
              <a:spcBef>
                <a:spcPts val="0"/>
              </a:spcBef>
              <a:spcAft>
                <a:spcPts val="0"/>
              </a:spcAft>
              <a:buSzPts val="1400"/>
              <a:buChar char="●"/>
            </a:pPr>
            <a:r>
              <a:rPr lang="en"/>
              <a:t>B</a:t>
            </a:r>
            <a:r>
              <a:rPr lang="en"/>
              <a:t>acklog Grooming</a:t>
            </a:r>
            <a:endParaRPr/>
          </a:p>
          <a:p>
            <a:pPr indent="-317500" lvl="0" marL="457200" rtl="0" algn="l">
              <a:spcBef>
                <a:spcPts val="0"/>
              </a:spcBef>
              <a:spcAft>
                <a:spcPts val="0"/>
              </a:spcAft>
              <a:buSzPts val="1400"/>
              <a:buChar char="●"/>
            </a:pPr>
            <a:r>
              <a:rPr lang="en"/>
              <a:t>Sprint Planning</a:t>
            </a:r>
            <a:endParaRPr/>
          </a:p>
          <a:p>
            <a:pPr indent="-317500" lvl="0" marL="457200" rtl="0" algn="l">
              <a:spcBef>
                <a:spcPts val="0"/>
              </a:spcBef>
              <a:spcAft>
                <a:spcPts val="0"/>
              </a:spcAft>
              <a:buSzPts val="1400"/>
              <a:buChar char="●"/>
            </a:pPr>
            <a:r>
              <a:rPr lang="en"/>
              <a:t>Daily Stand-ups</a:t>
            </a:r>
            <a:endParaRPr/>
          </a:p>
          <a:p>
            <a:pPr indent="-317500" lvl="0" marL="457200" rtl="0" algn="l">
              <a:spcBef>
                <a:spcPts val="0"/>
              </a:spcBef>
              <a:spcAft>
                <a:spcPts val="0"/>
              </a:spcAft>
              <a:buSzPts val="1400"/>
              <a:buChar char="●"/>
            </a:pPr>
            <a:r>
              <a:rPr lang="en"/>
              <a:t>Continuous</a:t>
            </a:r>
            <a:r>
              <a:rPr lang="en"/>
              <a:t> Integration</a:t>
            </a:r>
            <a:endParaRPr/>
          </a:p>
          <a:p>
            <a:pPr indent="-317500" lvl="0" marL="457200" rtl="0" algn="l">
              <a:spcBef>
                <a:spcPts val="0"/>
              </a:spcBef>
              <a:spcAft>
                <a:spcPts val="0"/>
              </a:spcAft>
              <a:buSzPts val="1400"/>
              <a:buChar char="●"/>
            </a:pPr>
            <a:r>
              <a:rPr lang="en"/>
              <a:t>Retrospectives &amp; Sprint Review</a:t>
            </a:r>
            <a:br>
              <a:rPr lang="en"/>
            </a:br>
            <a:endParaRPr/>
          </a:p>
        </p:txBody>
      </p:sp>
      <p:pic>
        <p:nvPicPr>
          <p:cNvPr id="89" name="Google Shape;89;p17"/>
          <p:cNvPicPr preferRelativeResize="0"/>
          <p:nvPr/>
        </p:nvPicPr>
        <p:blipFill>
          <a:blip r:embed="rId3">
            <a:alphaModFix/>
          </a:blip>
          <a:stretch>
            <a:fillRect/>
          </a:stretch>
        </p:blipFill>
        <p:spPr>
          <a:xfrm>
            <a:off x="311699" y="1147227"/>
            <a:ext cx="3564325" cy="35227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8"/>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Case #1: Agile as growing rails</a:t>
            </a:r>
            <a:endParaRPr/>
          </a:p>
        </p:txBody>
      </p:sp>
      <p:pic>
        <p:nvPicPr>
          <p:cNvPr id="95" name="Google Shape;95;p18"/>
          <p:cNvPicPr preferRelativeResize="0"/>
          <p:nvPr/>
        </p:nvPicPr>
        <p:blipFill>
          <a:blip r:embed="rId3">
            <a:alphaModFix/>
          </a:blip>
          <a:stretch>
            <a:fillRect/>
          </a:stretch>
        </p:blipFill>
        <p:spPr>
          <a:xfrm>
            <a:off x="2056088" y="1250925"/>
            <a:ext cx="5031832" cy="3691475"/>
          </a:xfrm>
          <a:prstGeom prst="rect">
            <a:avLst/>
          </a:prstGeom>
          <a:noFill/>
          <a:ln>
            <a:noFill/>
          </a:ln>
        </p:spPr>
      </p:pic>
      <p:pic>
        <p:nvPicPr>
          <p:cNvPr id="96" name="Google Shape;96;p18"/>
          <p:cNvPicPr preferRelativeResize="0"/>
          <p:nvPr/>
        </p:nvPicPr>
        <p:blipFill>
          <a:blip r:embed="rId4">
            <a:alphaModFix/>
          </a:blip>
          <a:stretch>
            <a:fillRect/>
          </a:stretch>
        </p:blipFill>
        <p:spPr>
          <a:xfrm>
            <a:off x="1516988" y="1148313"/>
            <a:ext cx="6110024" cy="38966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Case #1: Agile for cross-team work</a:t>
            </a:r>
            <a:endParaRPr/>
          </a:p>
        </p:txBody>
      </p:sp>
      <p:pic>
        <p:nvPicPr>
          <p:cNvPr id="102" name="Google Shape;102;p19"/>
          <p:cNvPicPr preferRelativeResize="0"/>
          <p:nvPr/>
        </p:nvPicPr>
        <p:blipFill>
          <a:blip r:embed="rId3">
            <a:alphaModFix/>
          </a:blip>
          <a:stretch>
            <a:fillRect/>
          </a:stretch>
        </p:blipFill>
        <p:spPr>
          <a:xfrm>
            <a:off x="152400" y="1299625"/>
            <a:ext cx="8839197" cy="264187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0"/>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Case #1: Agile for tech improvements</a:t>
            </a:r>
            <a:endParaRPr/>
          </a:p>
        </p:txBody>
      </p:sp>
      <p:sp>
        <p:nvSpPr>
          <p:cNvPr id="108" name="Google Shape;108;p20"/>
          <p:cNvSpPr txBox="1"/>
          <p:nvPr>
            <p:ph idx="1" type="body"/>
          </p:nvPr>
        </p:nvSpPr>
        <p:spPr>
          <a:xfrm>
            <a:off x="311700" y="1225225"/>
            <a:ext cx="8520600" cy="33540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Project had to expand and needed tech improvements</a:t>
            </a:r>
            <a:endParaRPr/>
          </a:p>
          <a:p>
            <a:pPr indent="-342900" lvl="0" marL="457200" rtl="0" algn="l">
              <a:spcBef>
                <a:spcPts val="0"/>
              </a:spcBef>
              <a:spcAft>
                <a:spcPts val="0"/>
              </a:spcAft>
              <a:buSzPts val="1800"/>
              <a:buChar char="●"/>
            </a:pPr>
            <a:r>
              <a:rPr lang="en"/>
              <a:t>Capacity for tech debt</a:t>
            </a:r>
            <a:endParaRPr/>
          </a:p>
          <a:p>
            <a:pPr indent="-342900" lvl="0" marL="457200" rtl="0" algn="l">
              <a:spcBef>
                <a:spcPts val="0"/>
              </a:spcBef>
              <a:spcAft>
                <a:spcPts val="0"/>
              </a:spcAft>
              <a:buSzPts val="1800"/>
              <a:buChar char="●"/>
            </a:pPr>
            <a:r>
              <a:rPr lang="en"/>
              <a:t>Separate team for Automation, Build Engineering and Tools</a:t>
            </a:r>
            <a:endParaRPr/>
          </a:p>
          <a:p>
            <a:pPr indent="-342900" lvl="0" marL="457200" rtl="0" algn="l">
              <a:spcBef>
                <a:spcPts val="0"/>
              </a:spcBef>
              <a:spcAft>
                <a:spcPts val="0"/>
              </a:spcAft>
              <a:buSzPts val="1800"/>
              <a:buChar char="●"/>
            </a:pPr>
            <a:r>
              <a:rPr lang="en"/>
              <a:t>Structured and strategic technical oversight</a:t>
            </a:r>
            <a:endParaRPr/>
          </a:p>
          <a:p>
            <a:pPr indent="-342900" lvl="0" marL="457200" rtl="0" algn="l">
              <a:spcBef>
                <a:spcPts val="0"/>
              </a:spcBef>
              <a:spcAft>
                <a:spcPts val="0"/>
              </a:spcAft>
              <a:buSzPts val="1800"/>
              <a:buChar char="●"/>
            </a:pPr>
            <a:r>
              <a:rPr lang="en"/>
              <a:t>Cross-team code review and </a:t>
            </a:r>
            <a:r>
              <a:rPr lang="en"/>
              <a:t>knowledge sharing</a:t>
            </a:r>
            <a:endParaRPr/>
          </a:p>
          <a:p>
            <a:pPr indent="-342900" lvl="0" marL="457200" rtl="0" algn="l">
              <a:lnSpc>
                <a:spcPct val="200000"/>
              </a:lnSpc>
              <a:spcBef>
                <a:spcPts val="0"/>
              </a:spcBef>
              <a:spcAft>
                <a:spcPts val="0"/>
              </a:spcAft>
              <a:buSzPts val="1800"/>
              <a:buChar char="●"/>
            </a:pPr>
            <a:r>
              <a:rPr lang="en"/>
              <a:t>Tech syncs for best practices and architectural direction, pitching ideas</a:t>
            </a:r>
            <a:endParaRPr/>
          </a:p>
          <a:p>
            <a:pPr indent="-342900" lvl="0" marL="457200" rtl="0" algn="l">
              <a:spcBef>
                <a:spcPts val="0"/>
              </a:spcBef>
              <a:spcAft>
                <a:spcPts val="0"/>
              </a:spcAft>
              <a:buClr>
                <a:srgbClr val="38761D"/>
              </a:buClr>
              <a:buSzPts val="1800"/>
              <a:buChar char="●"/>
            </a:pPr>
            <a:r>
              <a:rPr lang="en">
                <a:solidFill>
                  <a:srgbClr val="38761D"/>
                </a:solidFill>
              </a:rPr>
              <a:t>Significant architectural shifts</a:t>
            </a:r>
            <a:endParaRPr>
              <a:solidFill>
                <a:srgbClr val="38761D"/>
              </a:solidFill>
            </a:endParaRPr>
          </a:p>
          <a:p>
            <a:pPr indent="-342900" lvl="0" marL="457200" rtl="0" algn="l">
              <a:spcBef>
                <a:spcPts val="0"/>
              </a:spcBef>
              <a:spcAft>
                <a:spcPts val="0"/>
              </a:spcAft>
              <a:buClr>
                <a:srgbClr val="38761D"/>
              </a:buClr>
              <a:buSzPts val="1800"/>
              <a:buChar char="●"/>
            </a:pPr>
            <a:r>
              <a:rPr lang="en">
                <a:solidFill>
                  <a:srgbClr val="38761D"/>
                </a:solidFill>
              </a:rPr>
              <a:t>Extensible</a:t>
            </a:r>
            <a:r>
              <a:rPr lang="en">
                <a:solidFill>
                  <a:srgbClr val="38761D"/>
                </a:solidFill>
              </a:rPr>
              <a:t> code base</a:t>
            </a:r>
            <a:endParaRPr>
              <a:solidFill>
                <a:srgbClr val="38761D"/>
              </a:solidFill>
            </a:endParaRPr>
          </a:p>
          <a:p>
            <a:pPr indent="-342900" lvl="0" marL="457200" rtl="0" algn="l">
              <a:spcBef>
                <a:spcPts val="0"/>
              </a:spcBef>
              <a:spcAft>
                <a:spcPts val="0"/>
              </a:spcAft>
              <a:buClr>
                <a:srgbClr val="990000"/>
              </a:buClr>
              <a:buSzPts val="1800"/>
              <a:buChar char="●"/>
            </a:pPr>
            <a:r>
              <a:rPr lang="en">
                <a:solidFill>
                  <a:srgbClr val="990000"/>
                </a:solidFill>
              </a:rPr>
              <a:t>Fast changing codebase</a:t>
            </a:r>
            <a:endParaRPr>
              <a:solidFill>
                <a:srgbClr val="990000"/>
              </a:solidFill>
            </a:endParaRPr>
          </a:p>
          <a:p>
            <a:pPr indent="-342900" lvl="0" marL="457200" rtl="0" algn="l">
              <a:spcBef>
                <a:spcPts val="0"/>
              </a:spcBef>
              <a:spcAft>
                <a:spcPts val="0"/>
              </a:spcAft>
              <a:buClr>
                <a:srgbClr val="990000"/>
              </a:buClr>
              <a:buSzPts val="1800"/>
              <a:buChar char="●"/>
            </a:pPr>
            <a:r>
              <a:rPr lang="en">
                <a:solidFill>
                  <a:srgbClr val="990000"/>
                </a:solidFill>
              </a:rPr>
              <a:t>Complicated branching</a:t>
            </a:r>
            <a:endParaRPr>
              <a:solidFill>
                <a:srgbClr val="99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Case #2: Agile to overcome chaos</a:t>
            </a:r>
            <a:endParaRPr/>
          </a:p>
        </p:txBody>
      </p:sp>
      <p:sp>
        <p:nvSpPr>
          <p:cNvPr id="114" name="Google Shape;114;p21"/>
          <p:cNvSpPr txBox="1"/>
          <p:nvPr>
            <p:ph idx="1" type="body"/>
          </p:nvPr>
        </p:nvSpPr>
        <p:spPr>
          <a:xfrm>
            <a:off x="311700" y="1451950"/>
            <a:ext cx="34425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Chaos period:</a:t>
            </a:r>
            <a:endParaRPr/>
          </a:p>
          <a:p>
            <a:pPr indent="-317500" lvl="0" marL="457200" rtl="0" algn="l">
              <a:spcBef>
                <a:spcPts val="1200"/>
              </a:spcBef>
              <a:spcAft>
                <a:spcPts val="0"/>
              </a:spcAft>
              <a:buSzPts val="1400"/>
              <a:buChar char="●"/>
            </a:pPr>
            <a:r>
              <a:rPr lang="en"/>
              <a:t>Small team to rework code base of another game</a:t>
            </a:r>
            <a:endParaRPr/>
          </a:p>
          <a:p>
            <a:pPr indent="-317500" lvl="0" marL="457200" rtl="0" algn="l">
              <a:spcBef>
                <a:spcPts val="1000"/>
              </a:spcBef>
              <a:spcAft>
                <a:spcPts val="0"/>
              </a:spcAft>
              <a:buClr>
                <a:srgbClr val="38761D"/>
              </a:buClr>
              <a:buSzPts val="1400"/>
              <a:buChar char="●"/>
            </a:pPr>
            <a:r>
              <a:rPr lang="en">
                <a:solidFill>
                  <a:srgbClr val="38761D"/>
                </a:solidFill>
              </a:rPr>
              <a:t>Straightforward communication</a:t>
            </a:r>
            <a:endParaRPr>
              <a:solidFill>
                <a:srgbClr val="38761D"/>
              </a:solidFill>
            </a:endParaRPr>
          </a:p>
          <a:p>
            <a:pPr indent="-317500" lvl="0" marL="457200" rtl="0" algn="l">
              <a:spcBef>
                <a:spcPts val="0"/>
              </a:spcBef>
              <a:spcAft>
                <a:spcPts val="0"/>
              </a:spcAft>
              <a:buClr>
                <a:srgbClr val="38761D"/>
              </a:buClr>
              <a:buSzPts val="1400"/>
              <a:buChar char="●"/>
            </a:pPr>
            <a:r>
              <a:rPr lang="en">
                <a:solidFill>
                  <a:srgbClr val="38761D"/>
                </a:solidFill>
              </a:rPr>
              <a:t>Momentarily reaction to any product request</a:t>
            </a:r>
            <a:endParaRPr>
              <a:solidFill>
                <a:srgbClr val="38761D"/>
              </a:solidFill>
            </a:endParaRPr>
          </a:p>
          <a:p>
            <a:pPr indent="-317500" lvl="0" marL="457200" rtl="0" algn="l">
              <a:spcBef>
                <a:spcPts val="0"/>
              </a:spcBef>
              <a:spcAft>
                <a:spcPts val="0"/>
              </a:spcAft>
              <a:buClr>
                <a:srgbClr val="38761D"/>
              </a:buClr>
              <a:buSzPts val="1400"/>
              <a:buChar char="●"/>
            </a:pPr>
            <a:r>
              <a:rPr lang="en">
                <a:solidFill>
                  <a:srgbClr val="38761D"/>
                </a:solidFill>
              </a:rPr>
              <a:t>Successful prototype</a:t>
            </a:r>
            <a:endParaRPr>
              <a:solidFill>
                <a:srgbClr val="38761D"/>
              </a:solidFill>
            </a:endParaRPr>
          </a:p>
          <a:p>
            <a:pPr indent="-317500" lvl="0" marL="457200" rtl="0" algn="l">
              <a:spcBef>
                <a:spcPts val="0"/>
              </a:spcBef>
              <a:spcAft>
                <a:spcPts val="0"/>
              </a:spcAft>
              <a:buClr>
                <a:srgbClr val="990000"/>
              </a:buClr>
              <a:buSzPts val="1400"/>
              <a:buChar char="●"/>
            </a:pPr>
            <a:r>
              <a:rPr lang="en">
                <a:solidFill>
                  <a:srgbClr val="990000"/>
                </a:solidFill>
              </a:rPr>
              <a:t>Project accelerating and growth</a:t>
            </a:r>
            <a:r>
              <a:rPr lang="en">
                <a:solidFill>
                  <a:srgbClr val="990000"/>
                </a:solidFill>
              </a:rPr>
              <a:t> was challenging</a:t>
            </a:r>
            <a:endParaRPr>
              <a:solidFill>
                <a:srgbClr val="990000"/>
              </a:solidFill>
            </a:endParaRPr>
          </a:p>
        </p:txBody>
      </p:sp>
      <p:sp>
        <p:nvSpPr>
          <p:cNvPr id="115" name="Google Shape;115;p21"/>
          <p:cNvSpPr txBox="1"/>
          <p:nvPr>
            <p:ph idx="2" type="body"/>
          </p:nvPr>
        </p:nvSpPr>
        <p:spPr>
          <a:xfrm>
            <a:off x="4051500" y="1451950"/>
            <a:ext cx="47808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  </a:t>
            </a:r>
            <a:r>
              <a:rPr lang="en"/>
              <a:t>Agile introducing:</a:t>
            </a:r>
            <a:endParaRPr/>
          </a:p>
          <a:p>
            <a:pPr indent="-317500" lvl="0" marL="457200" rtl="0" algn="l">
              <a:spcBef>
                <a:spcPts val="1200"/>
              </a:spcBef>
              <a:spcAft>
                <a:spcPts val="0"/>
              </a:spcAft>
              <a:buSzPts val="1400"/>
              <a:buChar char="●"/>
            </a:pPr>
            <a:r>
              <a:rPr lang="en"/>
              <a:t>Project restructure for collaborative work</a:t>
            </a:r>
            <a:endParaRPr/>
          </a:p>
          <a:p>
            <a:pPr indent="-317500" lvl="0" marL="457200" rtl="0" algn="l">
              <a:spcBef>
                <a:spcPts val="0"/>
              </a:spcBef>
              <a:spcAft>
                <a:spcPts val="0"/>
              </a:spcAft>
              <a:buSzPts val="1400"/>
              <a:buChar char="●"/>
            </a:pPr>
            <a:r>
              <a:rPr lang="en"/>
              <a:t>Build schedule and searching for iteration rhythm</a:t>
            </a:r>
            <a:endParaRPr/>
          </a:p>
          <a:p>
            <a:pPr indent="-317500" lvl="0" marL="457200" rtl="0" algn="l">
              <a:spcBef>
                <a:spcPts val="0"/>
              </a:spcBef>
              <a:spcAft>
                <a:spcPts val="0"/>
              </a:spcAft>
              <a:buSzPts val="1400"/>
              <a:buChar char="●"/>
            </a:pPr>
            <a:r>
              <a:rPr lang="en"/>
              <a:t>Specifying expected result</a:t>
            </a:r>
            <a:endParaRPr/>
          </a:p>
          <a:p>
            <a:pPr indent="-317500" lvl="0" marL="457200" rtl="0" algn="l">
              <a:spcBef>
                <a:spcPts val="0"/>
              </a:spcBef>
              <a:spcAft>
                <a:spcPts val="0"/>
              </a:spcAft>
              <a:buSzPts val="1400"/>
              <a:buChar char="●"/>
            </a:pPr>
            <a:r>
              <a:rPr lang="en"/>
              <a:t>CI/CD and branching strategy</a:t>
            </a:r>
            <a:endParaRPr/>
          </a:p>
          <a:p>
            <a:pPr indent="-317500" lvl="0" marL="457200" rtl="0" algn="l">
              <a:spcBef>
                <a:spcPts val="0"/>
              </a:spcBef>
              <a:spcAft>
                <a:spcPts val="0"/>
              </a:spcAft>
              <a:buSzPts val="1400"/>
              <a:buChar char="●"/>
            </a:pPr>
            <a:r>
              <a:rPr lang="en"/>
              <a:t>Early testing</a:t>
            </a:r>
            <a:endParaRPr/>
          </a:p>
          <a:p>
            <a:pPr indent="-317500" lvl="0" marL="457200" rtl="0" algn="l">
              <a:lnSpc>
                <a:spcPct val="115000"/>
              </a:lnSpc>
              <a:spcBef>
                <a:spcPts val="0"/>
              </a:spcBef>
              <a:spcAft>
                <a:spcPts val="0"/>
              </a:spcAft>
              <a:buSzPts val="1400"/>
              <a:buChar char="●"/>
            </a:pPr>
            <a:r>
              <a:rPr lang="en"/>
              <a:t>Authoritative code reviews</a:t>
            </a:r>
            <a:endParaRPr/>
          </a:p>
          <a:p>
            <a:pPr indent="-317500" lvl="0" marL="457200" rtl="0" algn="l">
              <a:spcBef>
                <a:spcPts val="1000"/>
              </a:spcBef>
              <a:spcAft>
                <a:spcPts val="0"/>
              </a:spcAft>
              <a:buClr>
                <a:srgbClr val="38761D"/>
              </a:buClr>
              <a:buSzPts val="1400"/>
              <a:buChar char="●"/>
            </a:pPr>
            <a:r>
              <a:rPr lang="en">
                <a:solidFill>
                  <a:srgbClr val="38761D"/>
                </a:solidFill>
              </a:rPr>
              <a:t>Synchronized with other departments</a:t>
            </a:r>
            <a:endParaRPr>
              <a:solidFill>
                <a:srgbClr val="38761D"/>
              </a:solidFill>
            </a:endParaRPr>
          </a:p>
          <a:p>
            <a:pPr indent="-317500" lvl="0" marL="457200" rtl="0" algn="l">
              <a:spcBef>
                <a:spcPts val="0"/>
              </a:spcBef>
              <a:spcAft>
                <a:spcPts val="0"/>
              </a:spcAft>
              <a:buClr>
                <a:srgbClr val="990000"/>
              </a:buClr>
              <a:buSzPts val="1400"/>
              <a:buChar char="●"/>
            </a:pPr>
            <a:r>
              <a:rPr lang="en">
                <a:solidFill>
                  <a:srgbClr val="990000"/>
                </a:solidFill>
              </a:rPr>
              <a:t>No strategy iterations -&gt; </a:t>
            </a:r>
            <a:endParaRPr>
              <a:solidFill>
                <a:srgbClr val="990000"/>
              </a:solidFill>
            </a:endParaRPr>
          </a:p>
          <a:p>
            <a:pPr indent="-317500" lvl="0" marL="457200" rtl="0" algn="l">
              <a:spcBef>
                <a:spcPts val="0"/>
              </a:spcBef>
              <a:spcAft>
                <a:spcPts val="0"/>
              </a:spcAft>
              <a:buClr>
                <a:srgbClr val="990000"/>
              </a:buClr>
              <a:buSzPts val="1400"/>
              <a:buChar char="●"/>
            </a:pPr>
            <a:r>
              <a:rPr lang="en">
                <a:solidFill>
                  <a:srgbClr val="990000"/>
                </a:solidFill>
              </a:rPr>
              <a:t>Unrealistic expectations from management</a:t>
            </a:r>
            <a:endParaRPr>
              <a:solidFill>
                <a:srgbClr val="99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2"/>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Case #3: </a:t>
            </a:r>
            <a:r>
              <a:rPr lang="en"/>
              <a:t>Mimicking</a:t>
            </a:r>
            <a:r>
              <a:rPr lang="en"/>
              <a:t> Agile</a:t>
            </a:r>
            <a:endParaRPr/>
          </a:p>
        </p:txBody>
      </p:sp>
      <p:sp>
        <p:nvSpPr>
          <p:cNvPr id="121" name="Google Shape;121;p22"/>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Some Agile routines but in ineffective form</a:t>
            </a:r>
            <a:endParaRPr/>
          </a:p>
          <a:p>
            <a:pPr indent="-342900" lvl="0" marL="457200" rtl="0" algn="l">
              <a:spcBef>
                <a:spcPts val="0"/>
              </a:spcBef>
              <a:spcAft>
                <a:spcPts val="0"/>
              </a:spcAft>
              <a:buSzPts val="1800"/>
              <a:buChar char="●"/>
            </a:pPr>
            <a:r>
              <a:rPr lang="en"/>
              <a:t>Relied on personal connections and passion</a:t>
            </a:r>
            <a:endParaRPr/>
          </a:p>
          <a:p>
            <a:pPr indent="-342900" lvl="0" marL="457200" rtl="0" algn="l">
              <a:spcBef>
                <a:spcPts val="0"/>
              </a:spcBef>
              <a:spcAft>
                <a:spcPts val="0"/>
              </a:spcAft>
              <a:buSzPts val="1800"/>
              <a:buChar char="●"/>
            </a:pPr>
            <a:r>
              <a:rPr lang="en"/>
              <a:t>Chaotic, impulsive reactions to changes</a:t>
            </a:r>
            <a:endParaRPr/>
          </a:p>
          <a:p>
            <a:pPr indent="-342900" lvl="0" marL="457200" rtl="0" algn="l">
              <a:spcBef>
                <a:spcPts val="0"/>
              </a:spcBef>
              <a:spcAft>
                <a:spcPts val="0"/>
              </a:spcAft>
              <a:buSzPts val="1800"/>
              <a:buChar char="●"/>
            </a:pPr>
            <a:r>
              <a:rPr lang="en"/>
              <a:t>Meetings that lack purpose drain energy</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Works well for small projects</a:t>
            </a:r>
            <a:endParaRPr/>
          </a:p>
          <a:p>
            <a:pPr indent="-342900" lvl="0" marL="457200" rtl="0" algn="l">
              <a:spcBef>
                <a:spcPts val="0"/>
              </a:spcBef>
              <a:spcAft>
                <a:spcPts val="0"/>
              </a:spcAft>
              <a:buSzPts val="1800"/>
              <a:buChar char="●"/>
            </a:pPr>
            <a:r>
              <a:rPr lang="en"/>
              <a:t>Capable of shipping a product, but with limitations</a:t>
            </a:r>
            <a:endParaRPr/>
          </a:p>
          <a:p>
            <a:pPr indent="0" lvl="0" marL="45720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3"/>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Conclusion</a:t>
            </a:r>
            <a:endParaRPr/>
          </a:p>
        </p:txBody>
      </p:sp>
      <p:sp>
        <p:nvSpPr>
          <p:cNvPr id="127" name="Google Shape;127;p23"/>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i="1" lang="en"/>
              <a:t>Agile isn’t a magic solution. </a:t>
            </a:r>
            <a:endParaRPr i="1"/>
          </a:p>
          <a:p>
            <a:pPr indent="0" lvl="0" marL="0" rtl="0" algn="l">
              <a:spcBef>
                <a:spcPts val="0"/>
              </a:spcBef>
              <a:spcAft>
                <a:spcPts val="0"/>
              </a:spcAft>
              <a:buNone/>
            </a:pPr>
            <a:r>
              <a:rPr i="1" lang="en"/>
              <a:t>It requires trust and buy-in from the whole team to be effective.</a:t>
            </a:r>
            <a:endParaRPr i="1"/>
          </a:p>
          <a:p>
            <a:pPr indent="0" lvl="0" marL="0" rtl="0" algn="l">
              <a:spcBef>
                <a:spcPts val="1200"/>
              </a:spcBef>
              <a:spcAft>
                <a:spcPts val="0"/>
              </a:spcAft>
              <a:buNone/>
            </a:pPr>
            <a:r>
              <a:rPr lang="en"/>
              <a:t>Agile is:</a:t>
            </a:r>
            <a:endParaRPr/>
          </a:p>
          <a:p>
            <a:pPr indent="-342900" lvl="0" marL="457200" rtl="0" algn="l">
              <a:spcBef>
                <a:spcPts val="1200"/>
              </a:spcBef>
              <a:spcAft>
                <a:spcPts val="0"/>
              </a:spcAft>
              <a:buSzPts val="1800"/>
              <a:buChar char="●"/>
            </a:pPr>
            <a:r>
              <a:rPr lang="en"/>
              <a:t>Predictability through sprints</a:t>
            </a:r>
            <a:endParaRPr/>
          </a:p>
          <a:p>
            <a:pPr indent="-342900" lvl="0" marL="457200" rtl="0" algn="l">
              <a:spcBef>
                <a:spcPts val="0"/>
              </a:spcBef>
              <a:spcAft>
                <a:spcPts val="0"/>
              </a:spcAft>
              <a:buSzPts val="1800"/>
              <a:buChar char="●"/>
            </a:pPr>
            <a:r>
              <a:rPr lang="en"/>
              <a:t>Managing growth with Agile</a:t>
            </a:r>
            <a:endParaRPr/>
          </a:p>
          <a:p>
            <a:pPr indent="-342900" lvl="0" marL="457200" rtl="0" algn="l">
              <a:spcBef>
                <a:spcPts val="0"/>
              </a:spcBef>
              <a:spcAft>
                <a:spcPts val="0"/>
              </a:spcAft>
              <a:buSzPts val="1800"/>
              <a:buChar char="●"/>
            </a:pPr>
            <a:r>
              <a:rPr lang="en"/>
              <a:t>Planning for tech improvements</a:t>
            </a:r>
            <a:endParaRPr/>
          </a:p>
          <a:p>
            <a:pPr indent="-342900" lvl="0" marL="457200" rtl="0" algn="l">
              <a:spcBef>
                <a:spcPts val="0"/>
              </a:spcBef>
              <a:spcAft>
                <a:spcPts val="0"/>
              </a:spcAft>
              <a:buSzPts val="1800"/>
              <a:buChar char="●"/>
            </a:pPr>
            <a:r>
              <a:rPr lang="en"/>
              <a:t>Stability and growth for developers</a:t>
            </a:r>
            <a:endParaRPr/>
          </a:p>
          <a:p>
            <a:pPr indent="-342900" lvl="0" marL="457200" rtl="0" algn="l">
              <a:spcBef>
                <a:spcPts val="0"/>
              </a:spcBef>
              <a:spcAft>
                <a:spcPts val="0"/>
              </a:spcAft>
              <a:buSzPts val="1800"/>
              <a:buChar char="●"/>
            </a:pPr>
            <a:r>
              <a:rPr lang="en"/>
              <a:t>Purposeful meetings and communication standards</a:t>
            </a:r>
            <a:endParaRPr/>
          </a:p>
          <a:p>
            <a:pPr indent="-342900" lvl="0" marL="457200" rtl="0" algn="l">
              <a:spcBef>
                <a:spcPts val="0"/>
              </a:spcBef>
              <a:spcAft>
                <a:spcPts val="0"/>
              </a:spcAft>
              <a:buSzPts val="1800"/>
              <a:buChar char="●"/>
            </a:pPr>
            <a:r>
              <a:rPr lang="en"/>
              <a:t>Reduced developer stress</a:t>
            </a:r>
            <a:endParaRPr i="1"/>
          </a:p>
        </p:txBody>
      </p:sp>
    </p:spTree>
  </p:cSld>
  <p:clrMapOvr>
    <a:masterClrMapping/>
  </p:clrMapOvr>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