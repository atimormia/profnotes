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aleway"/>
      <p:regular r:id="rId22"/>
      <p:bold r:id="rId23"/>
      <p:italic r:id="rId24"/>
      <p:boldItalic r:id="rId25"/>
    </p:embeddedFont>
    <p:embeddedFont>
      <p:font typeface="La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regular.fntdata"/><Relationship Id="rId21" Type="http://schemas.openxmlformats.org/officeDocument/2006/relationships/slide" Target="slides/slide16.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font" Target="fonts/Raleway-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15a9762244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15a9762244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15a9762244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15a9762244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15a9762244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15a9762244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15a9762244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15a9762244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
                <a:solidFill>
                  <a:schemeClr val="dk1"/>
                </a:solidFill>
              </a:rPr>
              <a:t>Enhanced Skill Development</a:t>
            </a:r>
            <a:r>
              <a:rPr lang="en">
                <a:solidFill>
                  <a:schemeClr val="dk1"/>
                </a:solidFill>
              </a:rPr>
              <a:t>: Mentorship fosters a deeper understanding of technical skills and best practices, empowering employees to tackle complex challenges more effectively. By engaging in focused exercises or thoughtfully designed project tasks, mentees enhance their capabilities, contributing to the company’s success.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Leadership Development</a:t>
            </a:r>
            <a:r>
              <a:rPr lang="en">
                <a:solidFill>
                  <a:schemeClr val="dk1"/>
                </a:solidFill>
              </a:rPr>
              <a:t>: By giving experienced developers opportunities to mentor others, organizations cultivate a pipeline of future leaders. This dual focus not only supports mentees but also allows mentors to refine their leadership skills, building a more capable and confident workforce.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Improved Employee Retention</a:t>
            </a:r>
            <a:r>
              <a:rPr lang="en">
                <a:solidFill>
                  <a:schemeClr val="dk1"/>
                </a:solidFill>
              </a:rPr>
              <a:t>: A strong mentorship program signals that the organization values growth and well-being. By investing in employee development, companies can decrease turnover rates, as employees who feel supported are more likely to remain loyal and committed.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Fostering Innovation</a:t>
            </a:r>
            <a:r>
              <a:rPr lang="en">
                <a:solidFill>
                  <a:schemeClr val="dk1"/>
                </a:solidFill>
              </a:rPr>
              <a:t>: Mentorship encourages a culture of collaboration and knowledge sharing, essential for innovation. Working together, mentors and mentees can generate new ideas and solutions, driving the company forward and enhancing its competitive edge.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Building a Learning Culture</a:t>
            </a:r>
            <a:r>
              <a:rPr lang="en">
                <a:solidFill>
                  <a:schemeClr val="dk1"/>
                </a:solidFill>
              </a:rPr>
              <a:t>: Embedding mentorship into the company culture creates an environment where continuous learning is prioritized. This culture supports individual growth, encourages teams to embrace change, and adapt to new challenges, ultimately improving overall performance.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15a9762244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15a9762244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15a9762244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15a9762244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15a9762244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15a9762244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175fa2589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175fa2589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Introduction Phase</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Activities</a:t>
            </a:r>
            <a:r>
              <a:rPr lang="en">
                <a:solidFill>
                  <a:schemeClr val="dk1"/>
                </a:solidFill>
              </a:rPr>
              <a:t>: Announcements, platform preparation, session timelines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Outcome</a:t>
            </a:r>
            <a:r>
              <a:rPr lang="en">
                <a:solidFill>
                  <a:schemeClr val="dk1"/>
                </a:solidFill>
              </a:rPr>
              <a:t>: Clear communication about program details and objectives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Phase 0. Preparation</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Activities</a:t>
            </a:r>
            <a:r>
              <a:rPr lang="en">
                <a:solidFill>
                  <a:schemeClr val="dk1"/>
                </a:solidFill>
              </a:rPr>
              <a:t>: Identify candidates, mentor-mentee matching, kickoff meetings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Outcome</a:t>
            </a:r>
            <a:r>
              <a:rPr lang="en">
                <a:solidFill>
                  <a:schemeClr val="dk1"/>
                </a:solidFill>
              </a:rPr>
              <a:t>: Well-matched pairs ready to begin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Phase 1. Goals Setup</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Activities</a:t>
            </a:r>
            <a:r>
              <a:rPr lang="en">
                <a:solidFill>
                  <a:schemeClr val="dk1"/>
                </a:solidFill>
              </a:rPr>
              <a:t>: Onboarding, goal alignment, initial meetings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Outcome</a:t>
            </a:r>
            <a:r>
              <a:rPr lang="en">
                <a:solidFill>
                  <a:schemeClr val="dk1"/>
                </a:solidFill>
              </a:rPr>
              <a:t>: Documented individual and program goals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Phase 2. Planning</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Activities</a:t>
            </a:r>
            <a:r>
              <a:rPr lang="en">
                <a:solidFill>
                  <a:schemeClr val="dk1"/>
                </a:solidFill>
              </a:rPr>
              <a:t>: Curriculum development, project integration, scheduling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Outcome</a:t>
            </a:r>
            <a:r>
              <a:rPr lang="en">
                <a:solidFill>
                  <a:schemeClr val="dk1"/>
                </a:solidFill>
              </a:rPr>
              <a:t>: Detailed curriculum, timeline, and booked sessions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Phase 3. Module Iteration</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Activities</a:t>
            </a:r>
            <a:r>
              <a:rPr lang="en">
                <a:solidFill>
                  <a:schemeClr val="dk1"/>
                </a:solidFill>
              </a:rPr>
              <a:t>: Theory discussions, practical exercises, progress check-ins, feedback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Outcome</a:t>
            </a:r>
            <a:r>
              <a:rPr lang="en">
                <a:solidFill>
                  <a:schemeClr val="dk1"/>
                </a:solidFill>
              </a:rPr>
              <a:t>: Completed modules, documented achievements, next module plans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Phase 4. Evaluation</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Activities</a:t>
            </a:r>
            <a:r>
              <a:rPr lang="en">
                <a:solidFill>
                  <a:schemeClr val="dk1"/>
                </a:solidFill>
              </a:rPr>
              <a:t>: Final feedback meetings, company-wide recognition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Outcome</a:t>
            </a:r>
            <a:r>
              <a:rPr lang="en">
                <a:solidFill>
                  <a:schemeClr val="dk1"/>
                </a:solidFill>
              </a:rPr>
              <a:t>: Comprehensive feedback and recognition of achievements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15a9762244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15a9762244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15a9762244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15a9762244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15a9762244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15a9762244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15a9762244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15a9762244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15a9762244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15a9762244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15a9762244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15a9762244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175fa2589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175fa2589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drive.google.com/drive/folders/1lC_LRsk0rEbgF192VSHto4zmUKPtwj-z?usp=drive_lin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Mentoring Program</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Innovation Jam: Paulina Freidlin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695350" y="1308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b="1" lang="en"/>
              <a:t>Challenge</a:t>
            </a:r>
            <a:r>
              <a:rPr lang="en"/>
              <a:t>: Keeping up with rapid advancements in skills and knowledge is critical but challenging.</a:t>
            </a:r>
            <a:endParaRPr/>
          </a:p>
          <a:p>
            <a:pPr indent="-311150" lvl="0" marL="457200" rtl="0" algn="l">
              <a:spcBef>
                <a:spcPts val="0"/>
              </a:spcBef>
              <a:spcAft>
                <a:spcPts val="0"/>
              </a:spcAft>
              <a:buSzPts val="1300"/>
              <a:buChar char="●"/>
            </a:pPr>
            <a:r>
              <a:rPr b="1" lang="en"/>
              <a:t>Short-Term Solutions</a:t>
            </a:r>
            <a:r>
              <a:rPr lang="en"/>
              <a:t>: Quick troubleshooting or guidance works temporarily but lacks sustainability.</a:t>
            </a:r>
            <a:endParaRPr/>
          </a:p>
          <a:p>
            <a:pPr indent="-311150" lvl="0" marL="457200" rtl="0" algn="l">
              <a:spcBef>
                <a:spcPts val="0"/>
              </a:spcBef>
              <a:spcAft>
                <a:spcPts val="0"/>
              </a:spcAft>
              <a:buSzPts val="1300"/>
              <a:buChar char="●"/>
            </a:pPr>
            <a:r>
              <a:rPr b="1" lang="en"/>
              <a:t>Current Gaps</a:t>
            </a:r>
            <a:r>
              <a:rPr lang="en"/>
              <a:t>: Without a structured framework, mentoring efforts become inconsistent, leading to missed leadership opportunities and reduced support for developers.</a:t>
            </a:r>
            <a:endParaRPr/>
          </a:p>
          <a:p>
            <a:pPr indent="-311150" lvl="0" marL="457200" rtl="0" algn="l">
              <a:spcBef>
                <a:spcPts val="0"/>
              </a:spcBef>
              <a:spcAft>
                <a:spcPts val="0"/>
              </a:spcAft>
              <a:buSzPts val="1300"/>
              <a:buChar char="●"/>
            </a:pPr>
            <a:r>
              <a:rPr b="1" lang="en"/>
              <a:t>Impact</a:t>
            </a:r>
            <a:r>
              <a:rPr lang="en"/>
              <a:t>: A lack of structured growth pathways can lead to technological stagnation and higher turnover.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Guidance to Mentoring Program</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b="1" lang="en"/>
              <a:t>Challenge</a:t>
            </a:r>
            <a:r>
              <a:rPr lang="en"/>
              <a:t>: Establishing a structured mentoring process without an existing educational plan.</a:t>
            </a:r>
            <a:endParaRPr/>
          </a:p>
          <a:p>
            <a:pPr indent="-311150" lvl="0" marL="457200" rtl="0" algn="l">
              <a:spcBef>
                <a:spcPts val="0"/>
              </a:spcBef>
              <a:spcAft>
                <a:spcPts val="0"/>
              </a:spcAft>
              <a:buSzPts val="1300"/>
              <a:buChar char="●"/>
            </a:pPr>
            <a:r>
              <a:rPr b="1" lang="en"/>
              <a:t>Approach</a:t>
            </a:r>
            <a:r>
              <a:rPr lang="en"/>
              <a:t>: An </a:t>
            </a:r>
            <a:r>
              <a:rPr lang="en"/>
              <a:t>e</a:t>
            </a:r>
            <a:r>
              <a:rPr lang="en"/>
              <a:t>ducational </a:t>
            </a:r>
            <a:r>
              <a:rPr lang="en"/>
              <a:t>p</a:t>
            </a:r>
            <a:r>
              <a:rPr lang="en"/>
              <a:t>lan serves as a foundational step for structuring mentorship by outlining goals, strategies, and evaluation methods.</a:t>
            </a:r>
            <a:endParaRPr/>
          </a:p>
          <a:p>
            <a:pPr indent="-311150" lvl="0" marL="457200" rtl="0" algn="l">
              <a:spcBef>
                <a:spcPts val="0"/>
              </a:spcBef>
              <a:spcAft>
                <a:spcPts val="0"/>
              </a:spcAft>
              <a:buSzPts val="1300"/>
              <a:buChar char="●"/>
            </a:pPr>
            <a:r>
              <a:rPr b="1" lang="en"/>
              <a:t>Customization Need:</a:t>
            </a:r>
            <a:r>
              <a:rPr lang="en"/>
              <a:t> Creating an educational plan requires an individualized approach due to diverse team member experiences and knowledge levels.</a:t>
            </a:r>
            <a:endParaRPr/>
          </a:p>
          <a:p>
            <a:pPr indent="-311150" lvl="0" marL="457200" rtl="0" algn="l">
              <a:spcBef>
                <a:spcPts val="0"/>
              </a:spcBef>
              <a:spcAft>
                <a:spcPts val="0"/>
              </a:spcAft>
              <a:buSzPts val="1300"/>
              <a:buChar char="●"/>
            </a:pPr>
            <a:r>
              <a:rPr b="1" lang="en"/>
              <a:t>Solution:</a:t>
            </a:r>
            <a:r>
              <a:rPr lang="en"/>
              <a:t> The Mentoring Program provides a flexible framework that supports creating tailored educational plans while fostering both technical expertise and leadership development.</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Mentoring Program Concept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Mentoring Program Goals</a:t>
            </a:r>
            <a:endParaRPr/>
          </a:p>
        </p:txBody>
      </p:sp>
      <p:sp>
        <p:nvSpPr>
          <p:cNvPr id="110" name="Google Shape;110;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Enhanced Skill Development</a:t>
            </a:r>
            <a:endParaRPr/>
          </a:p>
          <a:p>
            <a:pPr indent="-311150" lvl="0" marL="457200" rtl="0" algn="l">
              <a:spcBef>
                <a:spcPts val="0"/>
              </a:spcBef>
              <a:spcAft>
                <a:spcPts val="0"/>
              </a:spcAft>
              <a:buSzPts val="1300"/>
              <a:buChar char="●"/>
            </a:pPr>
            <a:r>
              <a:rPr lang="en"/>
              <a:t>Leadership Development</a:t>
            </a:r>
            <a:endParaRPr/>
          </a:p>
          <a:p>
            <a:pPr indent="-311150" lvl="0" marL="457200" rtl="0" algn="l">
              <a:spcBef>
                <a:spcPts val="0"/>
              </a:spcBef>
              <a:spcAft>
                <a:spcPts val="0"/>
              </a:spcAft>
              <a:buSzPts val="1300"/>
              <a:buChar char="●"/>
            </a:pPr>
            <a:r>
              <a:rPr lang="en"/>
              <a:t>Improved Employee Retention</a:t>
            </a:r>
            <a:endParaRPr/>
          </a:p>
          <a:p>
            <a:pPr indent="-311150" lvl="0" marL="457200" rtl="0" algn="l">
              <a:spcBef>
                <a:spcPts val="0"/>
              </a:spcBef>
              <a:spcAft>
                <a:spcPts val="0"/>
              </a:spcAft>
              <a:buSzPts val="1300"/>
              <a:buChar char="●"/>
            </a:pPr>
            <a:r>
              <a:rPr lang="en"/>
              <a:t>Fostering Innovation</a:t>
            </a:r>
            <a:endParaRPr/>
          </a:p>
          <a:p>
            <a:pPr indent="-311150" lvl="0" marL="457200" rtl="0" algn="l">
              <a:spcBef>
                <a:spcPts val="0"/>
              </a:spcBef>
              <a:spcAft>
                <a:spcPts val="0"/>
              </a:spcAft>
              <a:buSzPts val="1300"/>
              <a:buChar char="●"/>
            </a:pPr>
            <a:r>
              <a:rPr lang="en"/>
              <a:t>Building a Learning Culture</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Mentoring Program Strategies</a:t>
            </a:r>
            <a:endParaRPr/>
          </a:p>
        </p:txBody>
      </p:sp>
      <p:sp>
        <p:nvSpPr>
          <p:cNvPr id="116" name="Google Shape;116;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b="1" lang="en"/>
              <a:t>Define Roles</a:t>
            </a:r>
            <a:r>
              <a:rPr lang="en"/>
              <a:t>: Mentor, Mentee, Managers, HR</a:t>
            </a:r>
            <a:endParaRPr/>
          </a:p>
          <a:p>
            <a:pPr indent="-311150" lvl="0" marL="457200" rtl="0" algn="l">
              <a:spcBef>
                <a:spcPts val="0"/>
              </a:spcBef>
              <a:spcAft>
                <a:spcPts val="0"/>
              </a:spcAft>
              <a:buSzPts val="1300"/>
              <a:buChar char="●"/>
            </a:pPr>
            <a:r>
              <a:rPr b="1" lang="en"/>
              <a:t>Set Up the Program</a:t>
            </a:r>
            <a:r>
              <a:rPr lang="en"/>
              <a:t>: Onboarding, orientation, and pairing/matching, Recurring check-ins and goal setting</a:t>
            </a:r>
            <a:endParaRPr/>
          </a:p>
          <a:p>
            <a:pPr indent="-311150" lvl="0" marL="457200" rtl="0" algn="l">
              <a:spcBef>
                <a:spcPts val="0"/>
              </a:spcBef>
              <a:spcAft>
                <a:spcPts val="0"/>
              </a:spcAft>
              <a:buSzPts val="1300"/>
              <a:buChar char="●"/>
            </a:pPr>
            <a:r>
              <a:rPr b="1" lang="en"/>
              <a:t>Structured Plan Creation</a:t>
            </a:r>
            <a:r>
              <a:rPr lang="en"/>
              <a:t>: Develop a curriculum, iteration plans, timeline, and review strategy</a:t>
            </a:r>
            <a:endParaRPr/>
          </a:p>
          <a:p>
            <a:pPr indent="-311150" lvl="0" marL="457200" rtl="0" algn="l">
              <a:spcBef>
                <a:spcPts val="0"/>
              </a:spcBef>
              <a:spcAft>
                <a:spcPts val="0"/>
              </a:spcAft>
              <a:buSzPts val="1300"/>
              <a:buChar char="●"/>
            </a:pPr>
            <a:r>
              <a:rPr b="1" lang="en"/>
              <a:t>Collaborative Platform</a:t>
            </a:r>
            <a:r>
              <a:rPr lang="en"/>
              <a:t>: Digital workspace, progress tracking, feedback loops, focus on soft skills</a:t>
            </a:r>
            <a:endParaRPr/>
          </a:p>
          <a:p>
            <a:pPr indent="-311150" lvl="0" marL="457200" rtl="0" algn="l">
              <a:spcBef>
                <a:spcPts val="0"/>
              </a:spcBef>
              <a:spcAft>
                <a:spcPts val="0"/>
              </a:spcAft>
              <a:buSzPts val="1300"/>
              <a:buChar char="●"/>
            </a:pPr>
            <a:r>
              <a:rPr b="1" lang="en"/>
              <a:t>Mentor Support</a:t>
            </a:r>
            <a:r>
              <a:rPr lang="en"/>
              <a:t>: Training, sync meetings, balancing responsibilities guidance</a:t>
            </a:r>
            <a:endParaRPr/>
          </a:p>
          <a:p>
            <a:pPr indent="-311150" lvl="0" marL="457200" rtl="0" algn="l">
              <a:spcBef>
                <a:spcPts val="0"/>
              </a:spcBef>
              <a:spcAft>
                <a:spcPts val="0"/>
              </a:spcAft>
              <a:buSzPts val="1300"/>
              <a:buChar char="●"/>
            </a:pPr>
            <a:r>
              <a:rPr b="1" lang="en"/>
              <a:t>Recognize Achievements</a:t>
            </a:r>
            <a:r>
              <a:rPr lang="en"/>
              <a:t>: Celebrate milestones and recognize mentor/mentee efforts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Mentoring Program Structure</a:t>
            </a:r>
            <a:endParaRPr/>
          </a:p>
        </p:txBody>
      </p:sp>
      <p:sp>
        <p:nvSpPr>
          <p:cNvPr id="122" name="Google Shape;122;p1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23" name="Google Shape;123;p1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The mentoring program aims to enhance skill development and leadership growth through </a:t>
            </a:r>
            <a:r>
              <a:rPr b="1" lang="en"/>
              <a:t>iterative sessions</a:t>
            </a:r>
            <a:r>
              <a:rPr lang="en"/>
              <a:t> and an individualized approach supported by mentors guidance.</a:t>
            </a:r>
            <a:endParaRPr/>
          </a:p>
          <a:p>
            <a:pPr indent="0" lvl="0" marL="0" rtl="0" algn="l">
              <a:spcBef>
                <a:spcPts val="1200"/>
              </a:spcBef>
              <a:spcAft>
                <a:spcPts val="0"/>
              </a:spcAft>
              <a:buNone/>
            </a:pPr>
            <a:r>
              <a:rPr lang="en"/>
              <a:t>This structure not only fosters mentee development but also strengthens </a:t>
            </a:r>
            <a:r>
              <a:rPr b="1" lang="en"/>
              <a:t>mentors’ leadership skills</a:t>
            </a:r>
            <a:r>
              <a:rPr lang="en"/>
              <a:t>, creating a culture of continuous learning and collaboration.</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Mentoring Program Setup</a:t>
            </a:r>
            <a:endParaRPr/>
          </a:p>
        </p:txBody>
      </p:sp>
      <p:sp>
        <p:nvSpPr>
          <p:cNvPr id="129" name="Google Shape;129;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Define Session Periods</a:t>
            </a:r>
            <a:endParaRPr/>
          </a:p>
          <a:p>
            <a:pPr indent="-311150" lvl="0" marL="457200" rtl="0" algn="l">
              <a:spcBef>
                <a:spcPts val="0"/>
              </a:spcBef>
              <a:spcAft>
                <a:spcPts val="0"/>
              </a:spcAft>
              <a:buSzPts val="1300"/>
              <a:buChar char="●"/>
            </a:pPr>
            <a:r>
              <a:rPr lang="en"/>
              <a:t>Prepare Program Platform</a:t>
            </a:r>
            <a:endParaRPr/>
          </a:p>
          <a:p>
            <a:pPr indent="-311150" lvl="0" marL="457200" rtl="0" algn="l">
              <a:spcBef>
                <a:spcPts val="0"/>
              </a:spcBef>
              <a:spcAft>
                <a:spcPts val="0"/>
              </a:spcAft>
              <a:buSzPts val="1300"/>
              <a:buChar char="●"/>
            </a:pPr>
            <a:r>
              <a:rPr lang="en"/>
              <a:t>Program Announcement</a:t>
            </a:r>
            <a:endParaRPr/>
          </a:p>
          <a:p>
            <a:pPr indent="0" lvl="0" marL="0" rtl="0" algn="l">
              <a:spcBef>
                <a:spcPts val="1200"/>
              </a:spcBef>
              <a:spcAft>
                <a:spcPts val="1200"/>
              </a:spcAft>
              <a:buNone/>
            </a:pPr>
            <a:r>
              <a:rPr lang="en"/>
              <a:t>This introduction ensures everyone in the company is aware of the program, its schedule, and its purpose</a:t>
            </a:r>
            <a:endParaRPr sz="160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1"/>
          <p:cNvPicPr preferRelativeResize="0"/>
          <p:nvPr/>
        </p:nvPicPr>
        <p:blipFill>
          <a:blip r:embed="rId3">
            <a:alphaModFix/>
          </a:blip>
          <a:stretch>
            <a:fillRect/>
          </a:stretch>
        </p:blipFill>
        <p:spPr>
          <a:xfrm>
            <a:off x="807788" y="167000"/>
            <a:ext cx="7528427" cy="4376450"/>
          </a:xfrm>
          <a:prstGeom prst="rect">
            <a:avLst/>
          </a:prstGeom>
          <a:noFill/>
          <a:ln>
            <a:noFill/>
          </a:ln>
        </p:spPr>
      </p:pic>
      <p:sp>
        <p:nvSpPr>
          <p:cNvPr id="135" name="Google Shape;135;p21"/>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Mentoring Session Structure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Mentor Guide</a:t>
            </a:r>
            <a:endParaRPr/>
          </a:p>
        </p:txBody>
      </p:sp>
      <p:sp>
        <p:nvSpPr>
          <p:cNvPr id="141" name="Google Shape;141;p22"/>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42" name="Google Shape;142;p22"/>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mentor guide is designed to equip mentors with the tools and strategies needed to effectively support mentees through structured, iterative sessions.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Curriculum Preparing</a:t>
            </a:r>
            <a:endParaRPr/>
          </a:p>
        </p:txBody>
      </p:sp>
      <p:sp>
        <p:nvSpPr>
          <p:cNvPr id="148" name="Google Shape;148;p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b="1" lang="en"/>
              <a:t>Mentee Interview</a:t>
            </a:r>
            <a:r>
              <a:rPr lang="en"/>
              <a:t> based on goals document</a:t>
            </a:r>
            <a:endParaRPr/>
          </a:p>
          <a:p>
            <a:pPr indent="-311150" lvl="0" marL="457200" rtl="0" algn="l">
              <a:spcBef>
                <a:spcPts val="0"/>
              </a:spcBef>
              <a:spcAft>
                <a:spcPts val="0"/>
              </a:spcAft>
              <a:buSzPts val="1300"/>
              <a:buChar char="●"/>
            </a:pPr>
            <a:r>
              <a:rPr lang="en"/>
              <a:t>Forming a </a:t>
            </a:r>
            <a:r>
              <a:rPr b="1" lang="en"/>
              <a:t>C</a:t>
            </a:r>
            <a:r>
              <a:rPr b="1" lang="en"/>
              <a:t>hecklist</a:t>
            </a:r>
            <a:r>
              <a:rPr lang="en"/>
              <a:t> of skills and topics to cover</a:t>
            </a:r>
            <a:endParaRPr/>
          </a:p>
          <a:p>
            <a:pPr indent="-311150" lvl="0" marL="457200" rtl="0" algn="l">
              <a:spcBef>
                <a:spcPts val="0"/>
              </a:spcBef>
              <a:spcAft>
                <a:spcPts val="0"/>
              </a:spcAft>
              <a:buSzPts val="1300"/>
              <a:buChar char="●"/>
            </a:pPr>
            <a:r>
              <a:rPr lang="en"/>
              <a:t>Analyzing and sorting the checklist, identifying topics that might require iterative approach, </a:t>
            </a:r>
            <a:r>
              <a:rPr b="1" lang="en"/>
              <a:t>combining into modules</a:t>
            </a:r>
            <a:endParaRPr b="1"/>
          </a:p>
          <a:p>
            <a:pPr indent="-311150" lvl="0" marL="457200" rtl="0" algn="l">
              <a:spcBef>
                <a:spcPts val="0"/>
              </a:spcBef>
              <a:spcAft>
                <a:spcPts val="0"/>
              </a:spcAft>
              <a:buSzPts val="1300"/>
              <a:buChar char="●"/>
            </a:pPr>
            <a:r>
              <a:rPr lang="en"/>
              <a:t>Brief </a:t>
            </a:r>
            <a:r>
              <a:rPr b="1" lang="en"/>
              <a:t>goals and expectations of modules</a:t>
            </a:r>
            <a:r>
              <a:rPr lang="en"/>
              <a:t> with approach ideas</a:t>
            </a:r>
            <a:endParaRPr/>
          </a:p>
          <a:p>
            <a:pPr indent="-311150" lvl="0" marL="457200" rtl="0" algn="l">
              <a:spcBef>
                <a:spcPts val="0"/>
              </a:spcBef>
              <a:spcAft>
                <a:spcPts val="0"/>
              </a:spcAft>
              <a:buSzPts val="1300"/>
              <a:buChar char="●"/>
            </a:pPr>
            <a:r>
              <a:rPr lang="en"/>
              <a:t>Identifying in-project tasks suitable for mentoring purposes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Educational Plan</a:t>
            </a:r>
            <a:endParaRPr/>
          </a:p>
        </p:txBody>
      </p:sp>
      <p:sp>
        <p:nvSpPr>
          <p:cNvPr id="154" name="Google Shape;154;p2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Modules Goals</a:t>
            </a:r>
            <a:endParaRPr/>
          </a:p>
          <a:p>
            <a:pPr indent="-311150" lvl="0" marL="457200" rtl="0" algn="l">
              <a:spcBef>
                <a:spcPts val="0"/>
              </a:spcBef>
              <a:spcAft>
                <a:spcPts val="0"/>
              </a:spcAft>
              <a:buSzPts val="1300"/>
              <a:buChar char="●"/>
            </a:pPr>
            <a:r>
              <a:rPr lang="en"/>
              <a:t>Theoretical Content</a:t>
            </a:r>
            <a:endParaRPr/>
          </a:p>
          <a:p>
            <a:pPr indent="-311150" lvl="0" marL="457200" rtl="0" algn="l">
              <a:spcBef>
                <a:spcPts val="0"/>
              </a:spcBef>
              <a:spcAft>
                <a:spcPts val="0"/>
              </a:spcAft>
              <a:buSzPts val="1300"/>
              <a:buChar char="●"/>
            </a:pPr>
            <a:r>
              <a:rPr lang="en"/>
              <a:t>Practice Approaches</a:t>
            </a:r>
            <a:endParaRPr/>
          </a:p>
          <a:p>
            <a:pPr indent="-311150" lvl="0" marL="457200" rtl="0" algn="l">
              <a:spcBef>
                <a:spcPts val="0"/>
              </a:spcBef>
              <a:spcAft>
                <a:spcPts val="0"/>
              </a:spcAft>
              <a:buSzPts val="1300"/>
              <a:buChar char="●"/>
            </a:pPr>
            <a:r>
              <a:rPr lang="en"/>
              <a:t>Feedback Expectations</a:t>
            </a:r>
            <a:endParaRPr/>
          </a:p>
          <a:p>
            <a:pPr indent="-311150" lvl="0" marL="457200" rtl="0" algn="l">
              <a:spcBef>
                <a:spcPts val="0"/>
              </a:spcBef>
              <a:spcAft>
                <a:spcPts val="0"/>
              </a:spcAft>
              <a:buSzPts val="1300"/>
              <a:buChar char="●"/>
            </a:pPr>
            <a:r>
              <a:rPr lang="en"/>
              <a:t>Timeline and Meeting Schedule:</a:t>
            </a:r>
            <a:endParaRPr/>
          </a:p>
          <a:p>
            <a:pPr indent="-298450" lvl="1" marL="914400" rtl="0" algn="l">
              <a:spcBef>
                <a:spcPts val="0"/>
              </a:spcBef>
              <a:spcAft>
                <a:spcPts val="0"/>
              </a:spcAft>
              <a:buSzPts val="1100"/>
              <a:buChar char="○"/>
            </a:pPr>
            <a:r>
              <a:rPr lang="en"/>
              <a:t>Theory discussion</a:t>
            </a:r>
            <a:endParaRPr/>
          </a:p>
          <a:p>
            <a:pPr indent="-298450" lvl="1" marL="914400" rtl="0" algn="l">
              <a:spcBef>
                <a:spcPts val="0"/>
              </a:spcBef>
              <a:spcAft>
                <a:spcPts val="0"/>
              </a:spcAft>
              <a:buSzPts val="1100"/>
              <a:buChar char="○"/>
            </a:pPr>
            <a:r>
              <a:rPr lang="en"/>
              <a:t>Practice exercise requirements discussion</a:t>
            </a:r>
            <a:endParaRPr/>
          </a:p>
          <a:p>
            <a:pPr indent="-298450" lvl="1" marL="914400" rtl="0" algn="l">
              <a:spcBef>
                <a:spcPts val="0"/>
              </a:spcBef>
              <a:spcAft>
                <a:spcPts val="0"/>
              </a:spcAft>
              <a:buSzPts val="1100"/>
              <a:buChar char="○"/>
            </a:pPr>
            <a:r>
              <a:rPr lang="en"/>
              <a:t>Execution and progress review </a:t>
            </a:r>
            <a:r>
              <a:rPr lang="en"/>
              <a:t>checkpoints</a:t>
            </a:r>
            <a:endParaRPr/>
          </a:p>
          <a:p>
            <a:pPr indent="-298450" lvl="1" marL="914400" rtl="0" algn="l">
              <a:spcBef>
                <a:spcPts val="0"/>
              </a:spcBef>
              <a:spcAft>
                <a:spcPts val="0"/>
              </a:spcAft>
              <a:buSzPts val="1100"/>
              <a:buChar char="○"/>
            </a:pPr>
            <a:r>
              <a:rPr lang="en"/>
              <a:t>Module review and feedback exchange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Mastering a Module</a:t>
            </a:r>
            <a:endParaRPr/>
          </a:p>
        </p:txBody>
      </p:sp>
      <p:sp>
        <p:nvSpPr>
          <p:cNvPr id="160" name="Google Shape;160;p2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Review and prepare theory material</a:t>
            </a:r>
            <a:endParaRPr/>
          </a:p>
          <a:p>
            <a:pPr indent="-311150" lvl="0" marL="457200" rtl="0" algn="l">
              <a:spcBef>
                <a:spcPts val="0"/>
              </a:spcBef>
              <a:spcAft>
                <a:spcPts val="0"/>
              </a:spcAft>
              <a:buSzPts val="1300"/>
              <a:buChar char="●"/>
            </a:pPr>
            <a:r>
              <a:rPr lang="en"/>
              <a:t>Pick a practical </a:t>
            </a:r>
            <a:r>
              <a:rPr lang="en"/>
              <a:t>exercise</a:t>
            </a:r>
            <a:r>
              <a:rPr lang="en"/>
              <a:t>:</a:t>
            </a:r>
            <a:endParaRPr/>
          </a:p>
          <a:p>
            <a:pPr indent="-298450" lvl="1" marL="914400" rtl="0" algn="l">
              <a:spcBef>
                <a:spcPts val="0"/>
              </a:spcBef>
              <a:spcAft>
                <a:spcPts val="0"/>
              </a:spcAft>
              <a:buSzPts val="1100"/>
              <a:buChar char="○"/>
            </a:pPr>
            <a:r>
              <a:rPr lang="en"/>
              <a:t>In-project or extra</a:t>
            </a:r>
            <a:endParaRPr/>
          </a:p>
          <a:p>
            <a:pPr indent="-298450" lvl="1" marL="914400" rtl="0" algn="l">
              <a:spcBef>
                <a:spcPts val="0"/>
              </a:spcBef>
              <a:spcAft>
                <a:spcPts val="0"/>
              </a:spcAft>
              <a:buSzPts val="1100"/>
              <a:buChar char="○"/>
            </a:pPr>
            <a:r>
              <a:rPr lang="en"/>
              <a:t>Type: design a system in existed codebase, code review and refactor, pair programming, skeleton-meat</a:t>
            </a:r>
            <a:endParaRPr/>
          </a:p>
          <a:p>
            <a:pPr indent="-311150" lvl="0" marL="457200" rtl="0" algn="l">
              <a:spcBef>
                <a:spcPts val="0"/>
              </a:spcBef>
              <a:spcAft>
                <a:spcPts val="0"/>
              </a:spcAft>
              <a:buSzPts val="1300"/>
              <a:buChar char="●"/>
            </a:pPr>
            <a:r>
              <a:rPr lang="en"/>
              <a:t>Create/Review requirements, examine it for meeting module goals, set up Definition of Done</a:t>
            </a:r>
            <a:endParaRPr/>
          </a:p>
          <a:p>
            <a:pPr indent="-311150" lvl="0" marL="457200" rtl="0" algn="l">
              <a:spcBef>
                <a:spcPts val="0"/>
              </a:spcBef>
              <a:spcAft>
                <a:spcPts val="0"/>
              </a:spcAft>
              <a:buSzPts val="1300"/>
              <a:buChar char="●"/>
            </a:pPr>
            <a:r>
              <a:rPr lang="en"/>
              <a:t>Prepare/Review codebase and content</a:t>
            </a:r>
            <a:endParaRPr/>
          </a:p>
          <a:p>
            <a:pPr indent="-311150" lvl="0" marL="457200" rtl="0" algn="l">
              <a:spcBef>
                <a:spcPts val="0"/>
              </a:spcBef>
              <a:spcAft>
                <a:spcPts val="0"/>
              </a:spcAft>
              <a:buSzPts val="1300"/>
              <a:buChar char="●"/>
            </a:pPr>
            <a:r>
              <a:rPr lang="en"/>
              <a:t>Specify what to pay attention for during checkups</a:t>
            </a:r>
            <a:endParaRPr/>
          </a:p>
          <a:p>
            <a:pPr indent="-311150" lvl="0" marL="457200" rtl="0" algn="l">
              <a:spcBef>
                <a:spcPts val="0"/>
              </a:spcBef>
              <a:spcAft>
                <a:spcPts val="0"/>
              </a:spcAft>
              <a:buSzPts val="1300"/>
              <a:buChar char="●"/>
            </a:pPr>
            <a:r>
              <a:rPr lang="en"/>
              <a:t>Identify learning objectives for mentor</a:t>
            </a:r>
            <a:endParaRPr/>
          </a:p>
          <a:p>
            <a:pPr indent="-311150" lvl="0" marL="457200" rtl="0" algn="l">
              <a:spcBef>
                <a:spcPts val="0"/>
              </a:spcBef>
              <a:spcAft>
                <a:spcPts val="0"/>
              </a:spcAft>
              <a:buSzPts val="1300"/>
              <a:buChar char="●"/>
            </a:pPr>
            <a:r>
              <a:rPr lang="en"/>
              <a:t>Set up evaluation criterias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Mentoring Strategies</a:t>
            </a:r>
            <a:endParaRPr/>
          </a:p>
        </p:txBody>
      </p:sp>
      <p:sp>
        <p:nvSpPr>
          <p:cNvPr id="166" name="Google Shape;166;p2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b="1" lang="en"/>
              <a:t>Balance Project and Mentoring:</a:t>
            </a:r>
            <a:r>
              <a:rPr lang="en"/>
              <a:t> Manage priorities effectively</a:t>
            </a:r>
            <a:endParaRPr/>
          </a:p>
          <a:p>
            <a:pPr indent="-311150" lvl="0" marL="457200" rtl="0" algn="l">
              <a:spcBef>
                <a:spcPts val="0"/>
              </a:spcBef>
              <a:spcAft>
                <a:spcPts val="0"/>
              </a:spcAft>
              <a:buSzPts val="1300"/>
              <a:buChar char="●"/>
            </a:pPr>
            <a:r>
              <a:rPr b="1" lang="en"/>
              <a:t>Structure and Flexibility:</a:t>
            </a:r>
            <a:r>
              <a:rPr lang="en"/>
              <a:t> Adapt plans as needed</a:t>
            </a:r>
            <a:endParaRPr/>
          </a:p>
          <a:p>
            <a:pPr indent="-311150" lvl="0" marL="457200" rtl="0" algn="l">
              <a:spcBef>
                <a:spcPts val="0"/>
              </a:spcBef>
              <a:spcAft>
                <a:spcPts val="0"/>
              </a:spcAft>
              <a:buSzPts val="1300"/>
              <a:buChar char="●"/>
            </a:pPr>
            <a:r>
              <a:rPr b="1" lang="en"/>
              <a:t>Two-Way Process: </a:t>
            </a:r>
            <a:r>
              <a:rPr lang="en"/>
              <a:t>Emphasize growth for both mentor and mentee</a:t>
            </a:r>
            <a:endParaRPr/>
          </a:p>
          <a:p>
            <a:pPr indent="-311150" lvl="0" marL="457200" rtl="0" algn="l">
              <a:spcBef>
                <a:spcPts val="0"/>
              </a:spcBef>
              <a:spcAft>
                <a:spcPts val="0"/>
              </a:spcAft>
              <a:buSzPts val="1300"/>
              <a:buChar char="●"/>
            </a:pPr>
            <a:r>
              <a:rPr b="1" lang="en"/>
              <a:t>Bonding and Feedback:</a:t>
            </a:r>
            <a:r>
              <a:rPr lang="en"/>
              <a:t> Build trust and provide constructive feedback</a:t>
            </a:r>
            <a:endParaRPr/>
          </a:p>
          <a:p>
            <a:pPr indent="-311150" lvl="0" marL="457200" rtl="0" algn="l">
              <a:spcBef>
                <a:spcPts val="0"/>
              </a:spcBef>
              <a:spcAft>
                <a:spcPts val="0"/>
              </a:spcAft>
              <a:buSzPts val="1300"/>
              <a:buChar char="●"/>
            </a:pPr>
            <a:r>
              <a:rPr b="1" lang="en"/>
              <a:t>Motivation and Challenges:</a:t>
            </a:r>
            <a:r>
              <a:rPr lang="en"/>
              <a:t> Inspire mentees while pushing them to grow</a:t>
            </a:r>
            <a:endParaRPr/>
          </a:p>
          <a:p>
            <a:pPr indent="-311150" lvl="0" marL="457200" rtl="0" algn="l">
              <a:spcBef>
                <a:spcPts val="0"/>
              </a:spcBef>
              <a:spcAft>
                <a:spcPts val="0"/>
              </a:spcAft>
              <a:buSzPts val="1300"/>
              <a:buChar char="●"/>
            </a:pPr>
            <a:r>
              <a:rPr b="1" lang="en"/>
              <a:t>Conflict Resolution:</a:t>
            </a:r>
            <a:r>
              <a:rPr lang="en"/>
              <a:t> Address issues with empathy and soft skills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Mentoring Program</a:t>
            </a:r>
            <a:r>
              <a:rPr lang="en"/>
              <a:t> strengthens individual growth and supports organization’s success.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Documents</a:t>
            </a:r>
            <a:endParaRPr/>
          </a:p>
        </p:txBody>
      </p:sp>
      <p:sp>
        <p:nvSpPr>
          <p:cNvPr id="177" name="Google Shape;177;p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u="sng">
                <a:solidFill>
                  <a:schemeClr val="hlink"/>
                </a:solidFill>
                <a:hlinkClick r:id="rId3"/>
              </a:rPr>
              <a:t>https://drive.google.com/drive/folders/1lC_LRsk0rEbgF192VSHto4zmUKPtwj-z?usp=drive_link</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